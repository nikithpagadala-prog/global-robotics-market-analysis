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4.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4bc81f7f-8af6-c97f-b61f-1359b25d080a}">
          <p14:sldIdLst>
            <p14:sldId id="256"/>
            <p14:sldId id="257"/>
            <p14:sldId id="258"/>
            <p14:sldId id="259"/>
            <p14:sldId id="260"/>
          </p14:sldIdLst>
        </p14:section>
        <p14:section name="Methodology" id="{1d496571-985b-b3b7-a172-96819890fa7a}">
          <p14:sldIdLst>
            <p14:sldId id="261"/>
            <p14:sldId id="262"/>
          </p14:sldIdLst>
        </p14:section>
        <p14:section name="Implementation" id="{e01ac1c4-ced8-b80b-d198-4a768e2dc248}">
          <p14:sldIdLst>
            <p14:sldId id="263"/>
            <p14:sldId id="264"/>
            <p14:sldId id="265"/>
            <p14:sldId id="266"/>
            <p14:sldId id="267"/>
          </p14:sldIdLst>
        </p14:section>
        <p14:section name="Results" id="{0b664370-6ff9-b2ea-9bfc-911c9b987ca0}">
          <p14:sldIdLst>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0233F"/>
                </a:solidFill>
                <a:latin typeface="+mn-lt"/>
              </a:defRPr>
            </a:pPr>
            <a:r>
              <a:rPr sz="1200" b="0" i="0" u="none" strike="noStrike">
                <a:solidFill>
                  <a:srgbClr val="10233F"/>
                </a:solidFill>
                <a:latin typeface="+mn-lt"/>
              </a:rPr>
              <a:t>Revenue by country ($M)</a:t>
            </a:r>
          </a:p>
        </c:rich>
      </c:tx>
      <c:layout/>
      <c:overlay val="0"/>
    </c:title>
    <c:autoTitleDeleted val="0"/>
    <c:plotArea>
      <c:layout/>
      <c:barChart>
        <c:barDir val="bar"/>
        <c:grouping val="clustered"/>
        <c:varyColors val="0"/>
        <c:ser>
          <c:idx val="0"/>
          <c:order val="0"/>
          <c:tx>
            <c:strRef>
              <c:f>Sheet1!$B$1</c:f>
              <c:strCache>
                <c:ptCount val="1"/>
                <c:pt idx="0">
                  <c:v>Revenue by country ($M)</c:v>
                </c:pt>
              </c:strCache>
            </c:strRef>
          </c:tx>
          <c:spPr>
            <a:solidFill>
              <a:srgbClr val="14B8A6"/>
            </a:solidFill>
            <a:effectLst/>
          </c:spPr>
          <c:invertIfNegative val="0"/>
          <c:dLbls>
            <c:numFmt formatCode="#,##0" sourceLinked="0"/>
            <c:txPr>
              <a:bodyPr/>
              <a:lstStyle/>
              <a:p>
                <a:pPr>
                  <a:defRPr b="0" i="0" strike="noStrike" sz="1000" u="none">
                    <a:solidFill>
                      <a:srgbClr val="10233F"/>
                    </a:solidFill>
                    <a:latin typeface="+mn-lt"/>
                  </a:defRPr>
                </a:pPr>
              </a:p>
            </c:txPr>
            <c:showLegendKey val="0"/>
            <c:showVal val="1"/>
            <c:showCatName val="0"/>
            <c:showSerName val="0"/>
            <c:showPercent val="0"/>
            <c:showBubbleSize val="0"/>
            <c:showLeaderLines val="0"/>
          </c:dLbls>
          <c:cat>
            <c:multiLvlStrRef>
              <c:f>Sheet1!$A$2:$A$8</c:f>
              <c:multiLvlStrCache>
                <c:ptCount val="7"/>
                <c:lvl>
                  <c:pt idx="0">
                    <c:v>India</c:v>
                  </c:pt>
                  <c:pt idx="1">
                    <c:v>China</c:v>
                  </c:pt>
                  <c:pt idx="2">
                    <c:v>Taiwan</c:v>
                  </c:pt>
                  <c:pt idx="3">
                    <c:v>South Korea</c:v>
                  </c:pt>
                  <c:pt idx="4">
                    <c:v>Australia</c:v>
                  </c:pt>
                  <c:pt idx="5">
                    <c:v>Japan</c:v>
                  </c:pt>
                  <c:pt idx="6">
                    <c:v>Singapore</c:v>
                  </c:pt>
                </c:lvl>
              </c:multiLvlStrCache>
            </c:multiLvlStrRef>
          </c:cat>
          <c:val>
            <c:numRef>
              <c:f>Sheet1!$B$2:$B$8</c:f>
              <c:numCache>
                <c:formatCode>General</c:formatCode>
                <c:ptCount val="7"/>
                <c:pt idx="0">
                  <c:v>568</c:v>
                </c:pt>
                <c:pt idx="1">
                  <c:v>306.6</c:v>
                </c:pt>
                <c:pt idx="2">
                  <c:v>259</c:v>
                </c:pt>
                <c:pt idx="3">
                  <c:v>247.1</c:v>
                </c:pt>
                <c:pt idx="4">
                  <c:v>244</c:v>
                </c:pt>
                <c:pt idx="5">
                  <c:v>236.9</c:v>
                </c:pt>
                <c:pt idx="6">
                  <c:v>176.2</c:v>
                </c:pt>
              </c:numCache>
            </c:numRef>
          </c:val>
        </c:ser>
        <c:dLbls>
          <c:numFmt formatCode="#,##0" sourceLinked="0"/>
          <c:txPr>
            <a:bodyPr/>
            <a:lstStyle/>
            <a:p>
              <a:pPr>
                <a:defRPr b="0" i="0" strike="noStrike" sz="1000" u="none">
                  <a:solidFill>
                    <a:srgbClr val="10233F"/>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0233F"/>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0233F"/>
                </a:solidFill>
                <a:latin typeface="+mn-lt"/>
              </a:defRPr>
            </a:pPr>
            <a:r>
              <a:rPr sz="1200" b="0" i="0" u="none" strike="noStrike">
                <a:solidFill>
                  <a:srgbClr val="10233F"/>
                </a:solidFill>
                <a:latin typeface="+mn-lt"/>
              </a:rPr>
              <a:t>By product category ($M)</a:t>
            </a:r>
          </a:p>
        </c:rich>
      </c:tx>
      <c:layout/>
      <c:overlay val="0"/>
    </c:title>
    <c:autoTitleDeleted val="0"/>
    <c:plotArea>
      <c:layout/>
      <c:barChart>
        <c:barDir val="bar"/>
        <c:grouping val="clustered"/>
        <c:varyColors val="0"/>
        <c:ser>
          <c:idx val="0"/>
          <c:order val="0"/>
          <c:tx>
            <c:strRef>
              <c:f>Sheet1!$B$1</c:f>
              <c:strCache>
                <c:ptCount val="1"/>
                <c:pt idx="0">
                  <c:v>By product category ($M)</c:v>
                </c:pt>
              </c:strCache>
            </c:strRef>
          </c:tx>
          <c:spPr>
            <a:solidFill>
              <a:srgbClr val="14B8A6"/>
            </a:solidFill>
            <a:effectLst/>
          </c:spPr>
          <c:invertIfNegative val="0"/>
          <c:dLbls>
            <c:numFmt formatCode="#,##0" sourceLinked="0"/>
            <c:txPr>
              <a:bodyPr/>
              <a:lstStyle/>
              <a:p>
                <a:pPr>
                  <a:defRPr b="0" i="0" strike="noStrike" sz="1000" u="none">
                    <a:solidFill>
                      <a:srgbClr val="10233F"/>
                    </a:solidFill>
                    <a:latin typeface="+mn-lt"/>
                  </a:defRPr>
                </a:pPr>
              </a:p>
            </c:txPr>
            <c:showLegendKey val="0"/>
            <c:showVal val="1"/>
            <c:showCatName val="0"/>
            <c:showSerName val="0"/>
            <c:showPercent val="0"/>
            <c:showBubbleSize val="0"/>
            <c:showLeaderLines val="0"/>
          </c:dLbls>
          <c:cat>
            <c:multiLvlStrRef>
              <c:f>Sheet1!$A$2:$A$6</c:f>
              <c:multiLvlStrCache>
                <c:ptCount val="5"/>
                <c:lvl>
                  <c:pt idx="0">
                    <c:v>AI Infrastructure</c:v>
                  </c:pt>
                  <c:pt idx="1">
                    <c:v>GPU Workstations</c:v>
                  </c:pt>
                  <c:pt idx="2">
                    <c:v>Industrial Edge</c:v>
                  </c:pt>
                  <c:pt idx="3">
                    <c:v>Robotics Dev.</c:v>
                  </c:pt>
                  <c:pt idx="4">
                    <c:v>Edge AI</c:v>
                  </c:pt>
                </c:lvl>
              </c:multiLvlStrCache>
            </c:multiLvlStrRef>
          </c:cat>
          <c:val>
            <c:numRef>
              <c:f>Sheet1!$B$2:$B$6</c:f>
              <c:numCache>
                <c:formatCode>General</c:formatCode>
                <c:ptCount val="5"/>
                <c:pt idx="0">
                  <c:v>1423.6</c:v>
                </c:pt>
                <c:pt idx="1">
                  <c:v>363.8</c:v>
                </c:pt>
                <c:pt idx="2">
                  <c:v>115.5</c:v>
                </c:pt>
                <c:pt idx="3">
                  <c:v>91.6</c:v>
                </c:pt>
                <c:pt idx="4">
                  <c:v>43.3</c:v>
                </c:pt>
              </c:numCache>
            </c:numRef>
          </c:val>
        </c:ser>
        <c:dLbls>
          <c:numFmt formatCode="#,##0" sourceLinked="0"/>
          <c:txPr>
            <a:bodyPr/>
            <a:lstStyle/>
            <a:p>
              <a:pPr>
                <a:defRPr b="0" i="0" strike="noStrike" sz="1000" u="none">
                  <a:solidFill>
                    <a:srgbClr val="10233F"/>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0233F"/>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0233F"/>
                </a:solidFill>
                <a:latin typeface="+mn-lt"/>
              </a:defRPr>
            </a:pPr>
            <a:r>
              <a:rPr sz="1200" b="0" i="0" u="none" strike="noStrike">
                <a:solidFill>
                  <a:srgbClr val="10233F"/>
                </a:solidFill>
                <a:latin typeface="+mn-lt"/>
              </a:rPr>
              <a:t>By sales channel ($M)</a:t>
            </a:r>
          </a:p>
        </c:rich>
      </c:tx>
      <c:layout/>
      <c:overlay val="0"/>
    </c:title>
    <c:autoTitleDeleted val="0"/>
    <c:plotArea>
      <c:layout/>
      <c:barChart>
        <c:barDir val="bar"/>
        <c:grouping val="clustered"/>
        <c:varyColors val="0"/>
        <c:ser>
          <c:idx val="0"/>
          <c:order val="0"/>
          <c:tx>
            <c:strRef>
              <c:f>Sheet1!$B$1</c:f>
              <c:strCache>
                <c:ptCount val="1"/>
                <c:pt idx="0">
                  <c:v>By sales channel ($M)</c:v>
                </c:pt>
              </c:strCache>
            </c:strRef>
          </c:tx>
          <c:spPr>
            <a:solidFill>
              <a:srgbClr val="14B8A6"/>
            </a:solidFill>
            <a:effectLst/>
          </c:spPr>
          <c:invertIfNegative val="0"/>
          <c:dLbls>
            <c:numFmt formatCode="#,##0" sourceLinked="0"/>
            <c:txPr>
              <a:bodyPr/>
              <a:lstStyle/>
              <a:p>
                <a:pPr>
                  <a:defRPr b="0" i="0" strike="noStrike" sz="1000" u="none">
                    <a:solidFill>
                      <a:srgbClr val="10233F"/>
                    </a:solidFill>
                    <a:latin typeface="+mn-lt"/>
                  </a:defRPr>
                </a:pPr>
              </a:p>
            </c:txPr>
            <c:showLegendKey val="0"/>
            <c:showVal val="1"/>
            <c:showCatName val="0"/>
            <c:showSerName val="0"/>
            <c:showPercent val="0"/>
            <c:showBubbleSize val="0"/>
            <c:showLeaderLines val="0"/>
          </c:dLbls>
          <c:cat>
            <c:multiLvlStrRef>
              <c:f>Sheet1!$A$2:$A$5</c:f>
              <c:multiLvlStrCache>
                <c:ptCount val="4"/>
                <c:lvl>
                  <c:pt idx="0">
                    <c:v>OEM/Integrator</c:v>
                  </c:pt>
                  <c:pt idx="1">
                    <c:v>Distributor</c:v>
                  </c:pt>
                  <c:pt idx="2">
                    <c:v>Direct</c:v>
                  </c:pt>
                  <c:pt idx="3">
                    <c:v>Online</c:v>
                  </c:pt>
                </c:lvl>
              </c:multiLvlStrCache>
            </c:multiLvlStrRef>
          </c:cat>
          <c:val>
            <c:numRef>
              <c:f>Sheet1!$B$2:$B$5</c:f>
              <c:numCache>
                <c:formatCode>General</c:formatCode>
                <c:ptCount val="4"/>
                <c:pt idx="0">
                  <c:v>661.6</c:v>
                </c:pt>
                <c:pt idx="1">
                  <c:v>603.8</c:v>
                </c:pt>
                <c:pt idx="2">
                  <c:v>558.4</c:v>
                </c:pt>
                <c:pt idx="3">
                  <c:v>214.1</c:v>
                </c:pt>
              </c:numCache>
            </c:numRef>
          </c:val>
        </c:ser>
        <c:dLbls>
          <c:numFmt formatCode="#,##0" sourceLinked="0"/>
          <c:txPr>
            <a:bodyPr/>
            <a:lstStyle/>
            <a:p>
              <a:pPr>
                <a:defRPr b="0" i="0" strike="noStrike" sz="1000" u="none">
                  <a:solidFill>
                    <a:srgbClr val="10233F"/>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0233F"/>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0233F"/>
                </a:solidFill>
                <a:latin typeface="+mn-lt"/>
              </a:defRPr>
            </a:pPr>
            <a:r>
              <a:rPr sz="1200" b="0" i="0" u="none" strike="noStrike">
                <a:solidFill>
                  <a:srgbClr val="10233F"/>
                </a:solidFill>
                <a:latin typeface="+mn-lt"/>
              </a:rPr>
              <a:t>Top 8 of 10 industries by revenue ($M)</a:t>
            </a:r>
          </a:p>
        </c:rich>
      </c:tx>
      <c:layout/>
      <c:overlay val="0"/>
    </c:title>
    <c:autoTitleDeleted val="0"/>
    <c:plotArea>
      <c:layout/>
      <c:barChart>
        <c:barDir val="bar"/>
        <c:grouping val="clustered"/>
        <c:varyColors val="0"/>
        <c:ser>
          <c:idx val="0"/>
          <c:order val="0"/>
          <c:tx>
            <c:strRef>
              <c:f>Sheet1!$B$1</c:f>
              <c:strCache>
                <c:ptCount val="1"/>
                <c:pt idx="0">
                  <c:v>Revenue ($M)</c:v>
                </c:pt>
              </c:strCache>
            </c:strRef>
          </c:tx>
          <c:spPr>
            <a:solidFill>
              <a:srgbClr val="14B8A6"/>
            </a:solidFill>
            <a:effectLst/>
          </c:spPr>
          <c:invertIfNegative val="0"/>
          <c:dLbls>
            <c:numFmt formatCode="#,##0" sourceLinked="0"/>
            <c:txPr>
              <a:bodyPr/>
              <a:lstStyle/>
              <a:p>
                <a:pPr>
                  <a:defRPr b="0" i="0" strike="noStrike" sz="1000" u="none">
                    <a:solidFill>
                      <a:srgbClr val="10233F"/>
                    </a:solidFill>
                    <a:latin typeface="+mn-lt"/>
                  </a:defRPr>
                </a:pPr>
              </a:p>
            </c:txPr>
            <c:showLegendKey val="0"/>
            <c:showVal val="1"/>
            <c:showCatName val="0"/>
            <c:showSerName val="0"/>
            <c:showPercent val="0"/>
            <c:showBubbleSize val="0"/>
            <c:showLeaderLines val="0"/>
          </c:dLbls>
          <c:cat>
            <c:multiLvlStrRef>
              <c:f>Sheet1!$A$2:$A$9</c:f>
              <c:multiLvlStrCache>
                <c:ptCount val="8"/>
                <c:lvl>
                  <c:pt idx="0">
                    <c:v>Robotics OEM</c:v>
                  </c:pt>
                  <c:pt idx="1">
                    <c:v>Industrial Automation</c:v>
                  </c:pt>
                  <c:pt idx="2">
                    <c:v>Warehouse Automation</c:v>
                  </c:pt>
                  <c:pt idx="3">
                    <c:v>Machine Vision</c:v>
                  </c:pt>
                  <c:pt idx="4">
                    <c:v>Research Institution</c:v>
                  </c:pt>
                  <c:pt idx="5">
                    <c:v>Agricultural Tech</c:v>
                  </c:pt>
                  <c:pt idx="6">
                    <c:v>Embedded Systems</c:v>
                  </c:pt>
                  <c:pt idx="7">
                    <c:v>Mining Automation</c:v>
                  </c:pt>
                </c:lvl>
              </c:multiLvlStrCache>
            </c:multiLvlStrRef>
          </c:cat>
          <c:val>
            <c:numRef>
              <c:f>Sheet1!$B$2:$B$9</c:f>
              <c:numCache>
                <c:formatCode>General</c:formatCode>
                <c:ptCount val="8"/>
                <c:pt idx="0">
                  <c:v>391</c:v>
                </c:pt>
                <c:pt idx="1">
                  <c:v>311.8</c:v>
                </c:pt>
                <c:pt idx="2">
                  <c:v>238.5</c:v>
                </c:pt>
                <c:pt idx="3">
                  <c:v>236.5</c:v>
                </c:pt>
                <c:pt idx="4">
                  <c:v>201.5</c:v>
                </c:pt>
                <c:pt idx="5">
                  <c:v>180.8</c:v>
                </c:pt>
                <c:pt idx="6">
                  <c:v>168.5</c:v>
                </c:pt>
                <c:pt idx="7">
                  <c:v>105.2</c:v>
                </c:pt>
              </c:numCache>
            </c:numRef>
          </c:val>
        </c:ser>
        <c:dLbls>
          <c:numFmt formatCode="#,##0" sourceLinked="0"/>
          <c:txPr>
            <a:bodyPr/>
            <a:lstStyle/>
            <a:p>
              <a:pPr>
                <a:defRPr b="0" i="0" strike="noStrike" sz="1000" u="none">
                  <a:solidFill>
                    <a:srgbClr val="10233F"/>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0233F"/>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My project is called Global Robotics Market Intelligence. It is an end-to-end Big Data Analytics and DBMS workflow: I take one CSV file and move it through Python, PostgreSQL, DBeaver, Databricks, Delta Lake and finally Power BI. One important point from the start: the dataset is synthetic, so all numbers describe the file, not the real robotics market.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gives the big picture. The goal is not to claim real market facts. The goal is to show a transparent method: how a raw file becomes a documented, quality-checked analytical asset. Six tools are used, each with a clear role: PostgreSQL stores the data, DBeaver is the SQL client, Python profiles and charts, Databricks runs Spark, Delta Lake organises the layers, and Power BI presents the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central problem: how do we organise a multi-dimensional dataset into a repeatable workflow, without misleading anyone about its synthetic nature? Without clear definitions, people can mix currencies or treat illustrative revenue as real sales. We frame five business questions: top countries, differences by industry, product and channel, monthly patterns, data-quality issues, and how a governed pipeline can keep limitations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inspect and document the fields, measure data quality, compare revenue across dimensions, and build outputs in SQL, Python, Spark and Power BI. Scope: only the uploaded file. We do not claim real market size or real customers. Limitations: the data is synthetic, the money fields are labelled USD while currency codes vary by country, and fit scores are not real technical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file has 50,000 records and 35 fields. Data quality is clean on the surface: zero missing cells, zero exact duplicate rows and zero duplicate transaction IDs. Dates run from 1 January 2024 to 26 September 2026. There are 7 countries, 10 industries and 5 product categories. The amber box is the key warning: the records are synthetic, so every total in this presentation describes the file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method is a controlled sequence. One: preserve the raw file. Two: profile it. Three: load it into PostgreSQL and query through DBeaver. Four: use Python for cleaning, analysis and charts. Five: repeat the logic in Databricks with Spark and store layers in Delta Lake. Six: present validated outputs in Power BI. The key principle at the bottom: every tool must use the same definitions so the totals can be reconciled.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"how did Big Data help?" Each row is a challenge, the Big Data or DBMS technique used, and the outcome. Profiling and a relational database confirm quality. Delta Lake layers keep raw, cleaned and aggregated data separate so every change is traceable. Shared definitions and reconciliation make results trustworthy across tools. Power BI turns it into a decision-ready view. To be honest: 28.9 MB does not truly need Spark, so we use it to demonstrate a pipeline that would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PostgreSQL gives a structured, queryable copy of the data. I load a staging table first, use NUMERIC for money to avoid floating-point errors, and a DATE type for order_date. I only add a primary key after proving the transaction IDs are unique. DBeaver is the graphical client, not a database: I write and save the queries there. The two queries shown give revenue by country and the monthly trend. Note: I label the output "synthetic revenue", never "market sales".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Python gives repeatable profiling. I read the CSV with pandas and confirm 50,000 rows and 35 columns, no missing cells and no duplicates. Dates are parsed day-first. The margin is total estimated gross profit divided by total revenue, which is 22.78 percent, not an average of row-level margins. Totals: revenue about 2.04 billion, estimated profit about 464 million. Remember, these are sums of synthetic records. Cleaning policy: keep a raw copy and never delete duplicates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of the five charts produced in Python. On the left, India has the highest revenue field total, about 568 million dollars, roughly 28 percent of the total. On the right, monthly totals fluctuate between about 52 and 70 million dollars without a clear direction. I read these as ranking and variation only. Because the data is synthetic, I do not claim seasonality or real demand.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Databricks provides managed Spark. We use the Delta Lake medallion pattern. Bronze keeps raw records exactly as imported, plus ingestion metadata. Silver applies explicit type conversion, standardised labels and quality flags. Gold holds aggregated KPI tables. The code shows reading the CSV, writing it as a Delta table, and building a country-level Gold table. Validation: Bronze count must match the source, and Gold totals must reconcile to the base table. Show your own notebook output cells here when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process in Power BI. First, import the CSV with Get Data. In Power Query, set the correct data types and parse the dates day-first. The model is a single table. Then I write four DAX measures: record count, revenue total, gross profit total, and gross margin percentage. DIVIDE is used so a zero denominator never causes an error. Finally I build the visuals and add slicers for date, country, industry, product, channel and verification status.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management view of the dashboard: a note at the top that the data is synthetic, four KPI cards in one row, and three comparison charts below. KPIs: 50,000 records, about 2.04 billion in revenue field total, 464 million estimated gross profit, and a 22.78 percent margin. India is the top country, AI Infrastructure is by far the largest product category, and OEM/Integrator is the largest sales channel. TIP FOR PRESENTING: replace this slide, or add next to it, a screenshot of your actual Power BI canvas (including the monthly trend line chart and slicers) as evidence. The report states a Python chart or PPT mock-up is not a .pbix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findings, all within the synthetic file. Robotics OEM is the top industry at about 391 million. India accounts for 27.9 percent of the revenue field total. AI Infrastructure products make up 69.9 percent, which is a very strong concentration. OEM/Integrator is the largest channel at 32.5 percent. Important question for discussion: does this concentration reflect real demand or simply how the dataset was generated? Also, the industry chart shows the top 8 of 10 industries. Rankings should always be read together with record counts.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recommendations: strengthen data governance, resolve the currency question before comparing financial values, replace synthetic data with verified data before real decisions, and give the dashboard clear ownership. Conclusion: the main lesson is that clear definitions, validation and honest labelling matter as much as the technology. Thank you, and I am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6035040" cy="137160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457200" y="4773168"/>
            <a:ext cx="5486400" cy="228600"/>
          </a:xfrm>
          <a:prstGeom prst="rect">
            <a:avLst/>
          </a:prstGeom>
          <a:noFill/>
          <a:ln/>
        </p:spPr>
        <p:txBody>
          <a:bodyPr wrap="square" lIns="0" tIns="0" rIns="0" bIns="0" rtlCol="0" anchor="ctr"/>
          <a:lstStyle/>
          <a:p>
            <a:pPr indent="0" marL="0">
              <a:buNone/>
            </a:pPr>
            <a:r>
              <a:rPr lang="en-US" sz="1000" dirty="0">
                <a:solidFill>
                  <a:schemeClr val="accent6"/>
                </a:solidFill>
              </a:rPr>
              <a:t>Global Robotics Market Intelligence  |  Synthetic dataset</a:t>
            </a:r>
            <a:endParaRPr lang="en-US" sz="1000" dirty="0"/>
          </a:p>
        </p:txBody>
      </p:sp>
      <p:sp>
        <p:nvSpPr>
          <p:cNvPr id="3" name="Text 1"/>
          <p:cNvSpPr/>
          <p:nvPr>
            <p:ph idx="101" type="title" hasCustomPrompt="1"/>
          </p:nvPr>
        </p:nvSpPr>
        <p:spPr>
          <a:xfrm>
            <a:off x="457200" y="274320"/>
            <a:ext cx="8229600" cy="64008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3.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chart" Target="/ppt/charts/chart3.xml"/><Relationship Id="rId4" Type="http://schemas.openxmlformats.org/officeDocument/2006/relationships/slideLayout" Target="../slideLayouts/slideLayout3.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3.xml"/><Relationship Id="rId6"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6035040" cy="1371600"/>
          </a:xfrm>
          <a:prstGeom prst="rect">
            <a:avLst/>
          </a:prstGeom>
          <a:noFill/>
          <a:ln/>
        </p:spPr>
        <p:txBody>
          <a:bodyPr wrap="square" lIns="0" tIns="0" rIns="0" bIns="0" rtlCol="0" anchor="t"/>
          <a:lstStyle/>
          <a:p>
            <a:pPr algn="l" indent="0" marL="0">
              <a:buNone/>
            </a:pPr>
            <a:r>
              <a:rPr lang="en-US" sz="3800" b="1" dirty="0">
                <a:solidFill>
                  <a:schemeClr val="bg1"/>
                </a:solidFill>
              </a:rPr>
              <a:t>Global Robotics</a:t>
            </a:r>
            <a:endParaRPr lang="en-US" sz="3800" dirty="0"/>
          </a:p>
          <a:p>
            <a:pPr algn="l" indent="0" marL="0">
              <a:buNone/>
            </a:pPr>
            <a:r>
              <a:rPr lang="en-US" sz="3800" b="1" dirty="0">
                <a:solidFill>
                  <a:schemeClr val="bg1"/>
                </a:solidFill>
              </a:rPr>
              <a:t>Market Intelligence</a:t>
            </a:r>
            <a:endParaRPr lang="en-US" sz="3800" dirty="0"/>
          </a:p>
        </p:txBody>
      </p:sp>
      <p:sp>
        <p:nvSpPr>
          <p:cNvPr id="3" name="Subtitle"/>
          <p:cNvSpPr txBox="1"/>
          <p:nvPr/>
        </p:nvSpPr>
        <p:spPr>
          <a:xfrm>
            <a:off x="548640" y="2743200"/>
            <a:ext cx="6035040" cy="365760"/>
          </a:xfrm>
          <a:prstGeom prst="rect">
            <a:avLst/>
          </a:prstGeom>
          <a:noFill/>
          <a:ln/>
        </p:spPr>
        <p:txBody>
          <a:bodyPr wrap="square" lIns="0" tIns="0" rIns="0" bIns="0" rtlCol="0" anchor="ctr"/>
          <a:lstStyle/>
          <a:p>
            <a:pPr indent="0" marL="0">
              <a:buNone/>
            </a:pPr>
            <a:r>
              <a:rPr lang="en-US" sz="2000" b="1" dirty="0">
                <a:solidFill>
                  <a:schemeClr val="accent1"/>
                </a:solidFill>
              </a:rPr>
              <a:t>Big Data Analytics &amp; DBMS Project</a:t>
            </a:r>
            <a:endParaRPr lang="en-US" sz="2000" dirty="0"/>
          </a:p>
        </p:txBody>
      </p:sp>
      <p:sp>
        <p:nvSpPr>
          <p:cNvPr id="4" name="Tagline"/>
          <p:cNvSpPr txBox="1"/>
          <p:nvPr/>
        </p:nvSpPr>
        <p:spPr>
          <a:xfrm>
            <a:off x="548640" y="3154680"/>
            <a:ext cx="6035040" cy="548640"/>
          </a:xfrm>
          <a:prstGeom prst="rect">
            <a:avLst/>
          </a:prstGeom>
          <a:noFill/>
          <a:ln/>
        </p:spPr>
        <p:txBody>
          <a:bodyPr wrap="square" lIns="0" tIns="0" rIns="0" bIns="0" rtlCol="0" anchor="t"/>
          <a:lstStyle/>
          <a:p>
            <a:pPr indent="0" marL="0">
              <a:buNone/>
            </a:pPr>
            <a:r>
              <a:rPr lang="en-US" sz="1400" dirty="0">
                <a:solidFill>
                  <a:schemeClr val="bg2"/>
                </a:solidFill>
              </a:rPr>
              <a:t>An end-to-end workflow using Python, PostgreSQL, DBeaver, Databricks, Delta Lake and Power BI</a:t>
            </a:r>
            <a:endParaRPr lang="en-US" sz="1400" dirty="0"/>
          </a:p>
        </p:txBody>
      </p:sp>
      <p:sp>
        <p:nvSpPr>
          <p:cNvPr id="5" name="Presenter"/>
          <p:cNvSpPr txBox="1"/>
          <p:nvPr/>
        </p:nvSpPr>
        <p:spPr>
          <a:xfrm>
            <a:off x="548640" y="3931920"/>
            <a:ext cx="6400800" cy="548640"/>
          </a:xfrm>
          <a:prstGeom prst="rect">
            <a:avLst/>
          </a:prstGeom>
          <a:noFill/>
          <a:ln/>
        </p:spPr>
        <p:txBody>
          <a:bodyPr wrap="square" lIns="0" tIns="0" rIns="0" bIns="0" rtlCol="0" anchor="t"/>
          <a:lstStyle/>
          <a:p>
            <a:pPr indent="0" marL="0">
              <a:buNone/>
            </a:pPr>
            <a:r>
              <a:rPr lang="en-US" sz="1400" b="1" dirty="0">
                <a:solidFill>
                  <a:schemeClr val="bg1"/>
                </a:solidFill>
              </a:rPr>
              <a:t>Nikith Pagadala  |  Roll No. 25024  |  PGDM 2025–2027</a:t>
            </a:r>
            <a:endParaRPr lang="en-US" sz="1400" dirty="0"/>
          </a:p>
          <a:p>
            <a:pPr indent="0" marL="0">
              <a:buNone/>
            </a:pPr>
            <a:r>
              <a:rPr lang="en-US" sz="1400" dirty="0">
                <a:solidFill>
                  <a:schemeClr val="bg1"/>
                </a:solidFill>
              </a:rPr>
              <a:t>Badruka School of Management, Hyderabad</a:t>
            </a:r>
            <a:endParaRPr lang="en-US" sz="1400" dirty="0"/>
          </a:p>
        </p:txBody>
      </p:sp>
      <p:sp>
        <p:nvSpPr>
          <p:cNvPr id="6" name="Hero circle outer"/>
          <p:cNvSpPr/>
          <p:nvPr/>
        </p:nvSpPr>
        <p:spPr>
          <a:xfrm>
            <a:off x="7040880" y="1371600"/>
            <a:ext cx="1645920" cy="1645920"/>
          </a:xfrm>
          <a:prstGeom prst="ellipse">
            <a:avLst/>
          </a:prstGeom>
          <a:solidFill>
            <a:schemeClr val="accent1">
              <a:alpha val="20000"/>
            </a:schemeClr>
          </a:solidFill>
          <a:ln/>
        </p:spPr>
      </p:sp>
      <p:sp>
        <p:nvSpPr>
          <p:cNvPr id="7" name="Hero circle inner"/>
          <p:cNvSpPr/>
          <p:nvPr/>
        </p:nvSpPr>
        <p:spPr>
          <a:xfrm>
            <a:off x="7315200" y="1645920"/>
            <a:ext cx="1097280" cy="1097280"/>
          </a:xfrm>
          <a:prstGeom prst="ellipse">
            <a:avLst/>
          </a:prstGeom>
          <a:solidFill>
            <a:schemeClr val="accent1"/>
          </a:solidFill>
          <a:ln/>
        </p:spPr>
      </p:sp>
      <p:pic>
        <p:nvPicPr>
          <p:cNvPr id="8" name="Hero robot icon" descr="Robot icon">    </p:cNvPr>
          <p:cNvPicPr>
            <a:picLocks noChangeAspect="1"/>
          </p:cNvPicPr>
          <p:nvPr/>
        </p:nvPicPr>
        <p:blipFill>
          <a:blip r:embed="rId1"/>
          <a:stretch>
            <a:fillRect/>
          </a:stretch>
        </p:blipFill>
        <p:spPr>
          <a:xfrm>
            <a:off x="7589520" y="1920240"/>
            <a:ext cx="548640" cy="548640"/>
          </a:xfrm>
          <a:prstGeom prst="rect">
            <a:avLst/>
          </a:prstGeom>
        </p:spPr>
      </p:pic>
      <p:sp>
        <p:nvSpPr>
          <p:cNvPr id="9" name="Dataset note"/>
          <p:cNvSpPr txBox="1"/>
          <p:nvPr/>
        </p:nvSpPr>
        <p:spPr>
          <a:xfrm>
            <a:off x="548640" y="4572000"/>
            <a:ext cx="7315200" cy="274320"/>
          </a:xfrm>
          <a:prstGeom prst="rect">
            <a:avLst/>
          </a:prstGeom>
          <a:noFill/>
          <a:ln/>
        </p:spPr>
        <p:txBody>
          <a:bodyPr wrap="square" lIns="0" tIns="0" rIns="0" bIns="0" rtlCol="0" anchor="ctr"/>
          <a:lstStyle/>
          <a:p>
            <a:pPr indent="0" marL="0">
              <a:buNone/>
            </a:pPr>
            <a:r>
              <a:rPr lang="en-US" sz="1100" i="1" dirty="0">
                <a:solidFill>
                  <a:schemeClr val="accent1"/>
                </a:solidFill>
              </a:rPr>
              <a:t>Dataset note: synthetic / illustrative records, not verified market data.</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Project at a Glance</a:t>
            </a:r>
            <a:endParaRPr lang="en-US" sz="2800" dirty="0"/>
          </a:p>
        </p:txBody>
      </p:sp>
      <p:sp>
        <p:nvSpPr>
          <p:cNvPr id="3" name="Headline statement"/>
          <p:cNvSpPr txBox="1"/>
          <p:nvPr/>
        </p:nvSpPr>
        <p:spPr>
          <a:xfrm>
            <a:off x="457200" y="1097280"/>
            <a:ext cx="3383280" cy="1737360"/>
          </a:xfrm>
          <a:prstGeom prst="rect">
            <a:avLst/>
          </a:prstGeom>
          <a:noFill/>
          <a:ln/>
        </p:spPr>
        <p:txBody>
          <a:bodyPr wrap="square" lIns="0" tIns="0" rIns="0" bIns="0" rtlCol="0" anchor="t"/>
          <a:lstStyle/>
          <a:p>
            <a:pPr indent="0" marL="0">
              <a:buNone/>
            </a:pPr>
            <a:r>
              <a:rPr lang="en-US" sz="2200" b="1" dirty="0">
                <a:solidFill>
                  <a:schemeClr val="tx1"/>
                </a:solidFill>
              </a:rPr>
              <a:t>Turning a 50,000-row robotics dataset into a documented, quality-checked analytical asset.</a:t>
            </a:r>
            <a:endParaRPr lang="en-US" sz="2200" dirty="0"/>
          </a:p>
        </p:txBody>
      </p:sp>
      <p:sp>
        <p:nvSpPr>
          <p:cNvPr id="4" name="Goal statement"/>
          <p:cNvSpPr txBox="1"/>
          <p:nvPr/>
        </p:nvSpPr>
        <p:spPr>
          <a:xfrm>
            <a:off x="457200" y="3017520"/>
            <a:ext cx="3383280" cy="1097280"/>
          </a:xfrm>
          <a:prstGeom prst="rect">
            <a:avLst/>
          </a:prstGeom>
          <a:noFill/>
          <a:ln/>
        </p:spPr>
        <p:txBody>
          <a:bodyPr wrap="square" lIns="0" tIns="0" rIns="0" bIns="0" rtlCol="0" anchor="t"/>
          <a:lstStyle/>
          <a:p>
            <a:pPr indent="0" marL="0">
              <a:buNone/>
            </a:pPr>
            <a:r>
              <a:rPr lang="en-US" sz="1400" dirty="0">
                <a:solidFill>
                  <a:schemeClr val="accent6"/>
                </a:solidFill>
              </a:rPr>
              <a:t>Goal: show how databases, Python, Spark and dashboards work together to support business interpretation.</a:t>
            </a:r>
            <a:endParaRPr lang="en-US" sz="1400" dirty="0"/>
          </a:p>
        </p:txBody>
      </p:sp>
      <p:sp>
        <p:nvSpPr>
          <p:cNvPr id="5" name="Tool card PostgreSQL"/>
          <p:cNvSpPr/>
          <p:nvPr/>
        </p:nvSpPr>
        <p:spPr>
          <a:xfrm>
            <a:off x="4114800" y="1097280"/>
            <a:ext cx="2194560" cy="1005840"/>
          </a:xfrm>
          <a:prstGeom prst="roundRect">
            <a:avLst>
              <a:gd name="adj" fmla="val 10909"/>
            </a:avLst>
          </a:prstGeom>
          <a:solidFill>
            <a:schemeClr val="bg2"/>
          </a:solidFill>
          <a:ln/>
        </p:spPr>
      </p:sp>
      <p:sp>
        <p:nvSpPr>
          <p:cNvPr id="6" name="PostgreSQL circle"/>
          <p:cNvSpPr/>
          <p:nvPr/>
        </p:nvSpPr>
        <p:spPr>
          <a:xfrm>
            <a:off x="4251960" y="1371600"/>
            <a:ext cx="457200" cy="457200"/>
          </a:xfrm>
          <a:prstGeom prst="ellipse">
            <a:avLst/>
          </a:prstGeom>
          <a:solidFill>
            <a:schemeClr val="tx2"/>
          </a:solidFill>
          <a:ln/>
        </p:spPr>
      </p:sp>
      <p:pic>
        <p:nvPicPr>
          <p:cNvPr id="7" name="PostgreSQL image" descr="PostgreSQL">    </p:cNvPr>
          <p:cNvPicPr>
            <a:picLocks noChangeAspect="1"/>
          </p:cNvPicPr>
          <p:nvPr/>
        </p:nvPicPr>
        <p:blipFill>
          <a:blip r:embed="rId1"/>
          <a:stretch>
            <a:fillRect/>
          </a:stretch>
        </p:blipFill>
        <p:spPr>
          <a:xfrm>
            <a:off x="4370832" y="1490472"/>
            <a:ext cx="219456" cy="219456"/>
          </a:xfrm>
          <a:prstGeom prst="rect">
            <a:avLst/>
          </a:prstGeom>
        </p:spPr>
      </p:pic>
      <p:sp>
        <p:nvSpPr>
          <p:cNvPr id="8" name="Tool text PostgreSQL"/>
          <p:cNvSpPr txBox="1"/>
          <p:nvPr/>
        </p:nvSpPr>
        <p:spPr>
          <a:xfrm>
            <a:off x="4800600" y="1188720"/>
            <a:ext cx="1417320" cy="822960"/>
          </a:xfrm>
          <a:prstGeom prst="rect">
            <a:avLst/>
          </a:prstGeom>
          <a:noFill/>
          <a:ln/>
        </p:spPr>
        <p:txBody>
          <a:bodyPr wrap="square" lIns="0" tIns="0" rIns="0" bIns="0" rtlCol="0" anchor="ctr"/>
          <a:lstStyle/>
          <a:p>
            <a:pPr indent="0" marL="0">
              <a:buNone/>
            </a:pPr>
            <a:r>
              <a:rPr lang="en-US" sz="1400" b="1" dirty="0">
                <a:solidFill>
                  <a:schemeClr val="tx1"/>
                </a:solidFill>
              </a:rPr>
              <a:t>PostgreSQL</a:t>
            </a:r>
            <a:endParaRPr lang="en-US" sz="1400" dirty="0"/>
          </a:p>
          <a:p>
            <a:pPr indent="0" marL="0">
              <a:buNone/>
            </a:pPr>
            <a:r>
              <a:rPr lang="en-US" sz="1200" dirty="0">
                <a:solidFill>
                  <a:schemeClr val="accent6"/>
                </a:solidFill>
              </a:rPr>
              <a:t>Structured storage and SQL</a:t>
            </a:r>
            <a:endParaRPr lang="en-US" sz="1400" dirty="0"/>
          </a:p>
        </p:txBody>
      </p:sp>
      <p:sp>
        <p:nvSpPr>
          <p:cNvPr id="9" name="Tool card DBeaver"/>
          <p:cNvSpPr/>
          <p:nvPr/>
        </p:nvSpPr>
        <p:spPr>
          <a:xfrm>
            <a:off x="6492240" y="1097280"/>
            <a:ext cx="2194560" cy="1005840"/>
          </a:xfrm>
          <a:prstGeom prst="roundRect">
            <a:avLst>
              <a:gd name="adj" fmla="val 10909"/>
            </a:avLst>
          </a:prstGeom>
          <a:solidFill>
            <a:schemeClr val="bg2"/>
          </a:solidFill>
          <a:ln/>
        </p:spPr>
      </p:sp>
      <p:sp>
        <p:nvSpPr>
          <p:cNvPr id="10" name="DBeaver circle"/>
          <p:cNvSpPr/>
          <p:nvPr/>
        </p:nvSpPr>
        <p:spPr>
          <a:xfrm>
            <a:off x="6629400" y="1371600"/>
            <a:ext cx="457200" cy="457200"/>
          </a:xfrm>
          <a:prstGeom prst="ellipse">
            <a:avLst/>
          </a:prstGeom>
          <a:solidFill>
            <a:schemeClr val="tx2"/>
          </a:solidFill>
          <a:ln/>
        </p:spPr>
      </p:sp>
      <p:pic>
        <p:nvPicPr>
          <p:cNvPr id="11" name="DBeaver image" descr="DBeaver">    </p:cNvPr>
          <p:cNvPicPr>
            <a:picLocks noChangeAspect="1"/>
          </p:cNvPicPr>
          <p:nvPr/>
        </p:nvPicPr>
        <p:blipFill>
          <a:blip r:embed="rId2"/>
          <a:stretch>
            <a:fillRect/>
          </a:stretch>
        </p:blipFill>
        <p:spPr>
          <a:xfrm>
            <a:off x="6748272" y="1490472"/>
            <a:ext cx="219456" cy="219456"/>
          </a:xfrm>
          <a:prstGeom prst="rect">
            <a:avLst/>
          </a:prstGeom>
        </p:spPr>
      </p:pic>
      <p:sp>
        <p:nvSpPr>
          <p:cNvPr id="12" name="Tool text DBeaver"/>
          <p:cNvSpPr txBox="1"/>
          <p:nvPr/>
        </p:nvSpPr>
        <p:spPr>
          <a:xfrm>
            <a:off x="7178040" y="1188720"/>
            <a:ext cx="1417320" cy="822960"/>
          </a:xfrm>
          <a:prstGeom prst="rect">
            <a:avLst/>
          </a:prstGeom>
          <a:noFill/>
          <a:ln/>
        </p:spPr>
        <p:txBody>
          <a:bodyPr wrap="square" lIns="0" tIns="0" rIns="0" bIns="0" rtlCol="0" anchor="ctr"/>
          <a:lstStyle/>
          <a:p>
            <a:pPr indent="0" marL="0">
              <a:buNone/>
            </a:pPr>
            <a:r>
              <a:rPr lang="en-US" sz="1400" b="1" dirty="0">
                <a:solidFill>
                  <a:schemeClr val="tx1"/>
                </a:solidFill>
              </a:rPr>
              <a:t>DBeaver</a:t>
            </a:r>
            <a:endParaRPr lang="en-US" sz="1400" dirty="0"/>
          </a:p>
          <a:p>
            <a:pPr indent="0" marL="0">
              <a:buNone/>
            </a:pPr>
            <a:r>
              <a:rPr lang="en-US" sz="1200" dirty="0">
                <a:solidFill>
                  <a:schemeClr val="accent6"/>
                </a:solidFill>
              </a:rPr>
              <a:t>SQL client and saved scripts</a:t>
            </a:r>
            <a:endParaRPr lang="en-US" sz="1400" dirty="0"/>
          </a:p>
        </p:txBody>
      </p:sp>
      <p:sp>
        <p:nvSpPr>
          <p:cNvPr id="13" name="Tool card Python"/>
          <p:cNvSpPr/>
          <p:nvPr/>
        </p:nvSpPr>
        <p:spPr>
          <a:xfrm>
            <a:off x="4114800" y="2240280"/>
            <a:ext cx="2194560" cy="1005840"/>
          </a:xfrm>
          <a:prstGeom prst="roundRect">
            <a:avLst>
              <a:gd name="adj" fmla="val 10909"/>
            </a:avLst>
          </a:prstGeom>
          <a:solidFill>
            <a:schemeClr val="bg2"/>
          </a:solidFill>
          <a:ln/>
        </p:spPr>
      </p:sp>
      <p:sp>
        <p:nvSpPr>
          <p:cNvPr id="14" name="Python circle"/>
          <p:cNvSpPr/>
          <p:nvPr/>
        </p:nvSpPr>
        <p:spPr>
          <a:xfrm>
            <a:off x="4251960" y="2514600"/>
            <a:ext cx="457200" cy="457200"/>
          </a:xfrm>
          <a:prstGeom prst="ellipse">
            <a:avLst/>
          </a:prstGeom>
          <a:solidFill>
            <a:schemeClr val="tx2"/>
          </a:solidFill>
          <a:ln/>
        </p:spPr>
      </p:sp>
      <p:pic>
        <p:nvPicPr>
          <p:cNvPr id="15" name="Python image" descr="Python">    </p:cNvPr>
          <p:cNvPicPr>
            <a:picLocks noChangeAspect="1"/>
          </p:cNvPicPr>
          <p:nvPr/>
        </p:nvPicPr>
        <p:blipFill>
          <a:blip r:embed="rId3"/>
          <a:stretch>
            <a:fillRect/>
          </a:stretch>
        </p:blipFill>
        <p:spPr>
          <a:xfrm>
            <a:off x="4370832" y="2633472"/>
            <a:ext cx="219456" cy="219456"/>
          </a:xfrm>
          <a:prstGeom prst="rect">
            <a:avLst/>
          </a:prstGeom>
        </p:spPr>
      </p:pic>
      <p:sp>
        <p:nvSpPr>
          <p:cNvPr id="16" name="Tool text Python"/>
          <p:cNvSpPr txBox="1"/>
          <p:nvPr/>
        </p:nvSpPr>
        <p:spPr>
          <a:xfrm>
            <a:off x="4800600" y="2331720"/>
            <a:ext cx="1417320" cy="822960"/>
          </a:xfrm>
          <a:prstGeom prst="rect">
            <a:avLst/>
          </a:prstGeom>
          <a:noFill/>
          <a:ln/>
        </p:spPr>
        <p:txBody>
          <a:bodyPr wrap="square" lIns="0" tIns="0" rIns="0" bIns="0" rtlCol="0" anchor="ctr"/>
          <a:lstStyle/>
          <a:p>
            <a:pPr indent="0" marL="0">
              <a:buNone/>
            </a:pPr>
            <a:r>
              <a:rPr lang="en-US" sz="1400" b="1" dirty="0">
                <a:solidFill>
                  <a:schemeClr val="tx1"/>
                </a:solidFill>
              </a:rPr>
              <a:t>Python</a:t>
            </a:r>
            <a:endParaRPr lang="en-US" sz="1400" dirty="0"/>
          </a:p>
          <a:p>
            <a:pPr indent="0" marL="0">
              <a:buNone/>
            </a:pPr>
            <a:r>
              <a:rPr lang="en-US" sz="1200" dirty="0">
                <a:solidFill>
                  <a:schemeClr val="accent6"/>
                </a:solidFill>
              </a:rPr>
              <a:t>Profiling, EDA and charts</a:t>
            </a:r>
            <a:endParaRPr lang="en-US" sz="1400" dirty="0"/>
          </a:p>
        </p:txBody>
      </p:sp>
      <p:sp>
        <p:nvSpPr>
          <p:cNvPr id="17" name="Tool card Databricks"/>
          <p:cNvSpPr/>
          <p:nvPr/>
        </p:nvSpPr>
        <p:spPr>
          <a:xfrm>
            <a:off x="6492240" y="2240280"/>
            <a:ext cx="2194560" cy="1005840"/>
          </a:xfrm>
          <a:prstGeom prst="roundRect">
            <a:avLst>
              <a:gd name="adj" fmla="val 10909"/>
            </a:avLst>
          </a:prstGeom>
          <a:solidFill>
            <a:schemeClr val="bg2"/>
          </a:solidFill>
          <a:ln/>
        </p:spPr>
      </p:sp>
      <p:sp>
        <p:nvSpPr>
          <p:cNvPr id="18" name="Databricks circle"/>
          <p:cNvSpPr/>
          <p:nvPr/>
        </p:nvSpPr>
        <p:spPr>
          <a:xfrm>
            <a:off x="6629400" y="2514600"/>
            <a:ext cx="457200" cy="457200"/>
          </a:xfrm>
          <a:prstGeom prst="ellipse">
            <a:avLst/>
          </a:prstGeom>
          <a:solidFill>
            <a:schemeClr val="tx2"/>
          </a:solidFill>
          <a:ln/>
        </p:spPr>
      </p:sp>
      <p:pic>
        <p:nvPicPr>
          <p:cNvPr id="19" name="Databricks image" descr="Databricks">    </p:cNvPr>
          <p:cNvPicPr>
            <a:picLocks noChangeAspect="1"/>
          </p:cNvPicPr>
          <p:nvPr/>
        </p:nvPicPr>
        <p:blipFill>
          <a:blip r:embed="rId4"/>
          <a:stretch>
            <a:fillRect/>
          </a:stretch>
        </p:blipFill>
        <p:spPr>
          <a:xfrm>
            <a:off x="6748272" y="2633472"/>
            <a:ext cx="219456" cy="219456"/>
          </a:xfrm>
          <a:prstGeom prst="rect">
            <a:avLst/>
          </a:prstGeom>
        </p:spPr>
      </p:pic>
      <p:sp>
        <p:nvSpPr>
          <p:cNvPr id="20" name="Tool text Databricks"/>
          <p:cNvSpPr txBox="1"/>
          <p:nvPr/>
        </p:nvSpPr>
        <p:spPr>
          <a:xfrm>
            <a:off x="7178040" y="2331720"/>
            <a:ext cx="1417320" cy="822960"/>
          </a:xfrm>
          <a:prstGeom prst="rect">
            <a:avLst/>
          </a:prstGeom>
          <a:noFill/>
          <a:ln/>
        </p:spPr>
        <p:txBody>
          <a:bodyPr wrap="square" lIns="0" tIns="0" rIns="0" bIns="0" rtlCol="0" anchor="ctr"/>
          <a:lstStyle/>
          <a:p>
            <a:pPr indent="0" marL="0">
              <a:buNone/>
            </a:pPr>
            <a:r>
              <a:rPr lang="en-US" sz="1400" b="1" dirty="0">
                <a:solidFill>
                  <a:schemeClr val="tx1"/>
                </a:solidFill>
              </a:rPr>
              <a:t>Databricks</a:t>
            </a:r>
            <a:endParaRPr lang="en-US" sz="1400" dirty="0"/>
          </a:p>
          <a:p>
            <a:pPr indent="0" marL="0">
              <a:buNone/>
            </a:pPr>
            <a:r>
              <a:rPr lang="en-US" sz="1200" dirty="0">
                <a:solidFill>
                  <a:schemeClr val="accent6"/>
                </a:solidFill>
              </a:rPr>
              <a:t>Spark-based processing</a:t>
            </a:r>
            <a:endParaRPr lang="en-US" sz="1400" dirty="0"/>
          </a:p>
        </p:txBody>
      </p:sp>
      <p:sp>
        <p:nvSpPr>
          <p:cNvPr id="21" name="Tool card Delta Lake"/>
          <p:cNvSpPr/>
          <p:nvPr/>
        </p:nvSpPr>
        <p:spPr>
          <a:xfrm>
            <a:off x="4114800" y="3383280"/>
            <a:ext cx="2194560" cy="1005840"/>
          </a:xfrm>
          <a:prstGeom prst="roundRect">
            <a:avLst>
              <a:gd name="adj" fmla="val 10909"/>
            </a:avLst>
          </a:prstGeom>
          <a:solidFill>
            <a:schemeClr val="bg2"/>
          </a:solidFill>
          <a:ln/>
        </p:spPr>
      </p:sp>
      <p:sp>
        <p:nvSpPr>
          <p:cNvPr id="22" name="Delta Lake circle"/>
          <p:cNvSpPr/>
          <p:nvPr/>
        </p:nvSpPr>
        <p:spPr>
          <a:xfrm>
            <a:off x="4251960" y="3657600"/>
            <a:ext cx="457200" cy="457200"/>
          </a:xfrm>
          <a:prstGeom prst="ellipse">
            <a:avLst/>
          </a:prstGeom>
          <a:solidFill>
            <a:schemeClr val="tx2"/>
          </a:solidFill>
          <a:ln/>
        </p:spPr>
      </p:sp>
      <p:pic>
        <p:nvPicPr>
          <p:cNvPr id="23" name="Delta Lake image" descr="Delta Lake">    </p:cNvPr>
          <p:cNvPicPr>
            <a:picLocks noChangeAspect="1"/>
          </p:cNvPicPr>
          <p:nvPr/>
        </p:nvPicPr>
        <p:blipFill>
          <a:blip r:embed="rId5"/>
          <a:stretch>
            <a:fillRect/>
          </a:stretch>
        </p:blipFill>
        <p:spPr>
          <a:xfrm>
            <a:off x="4370832" y="3776472"/>
            <a:ext cx="219456" cy="219456"/>
          </a:xfrm>
          <a:prstGeom prst="rect">
            <a:avLst/>
          </a:prstGeom>
        </p:spPr>
      </p:pic>
      <p:sp>
        <p:nvSpPr>
          <p:cNvPr id="24" name="Tool text Delta Lake"/>
          <p:cNvSpPr txBox="1"/>
          <p:nvPr/>
        </p:nvSpPr>
        <p:spPr>
          <a:xfrm>
            <a:off x="4800600" y="3474720"/>
            <a:ext cx="1417320" cy="822960"/>
          </a:xfrm>
          <a:prstGeom prst="rect">
            <a:avLst/>
          </a:prstGeom>
          <a:noFill/>
          <a:ln/>
        </p:spPr>
        <p:txBody>
          <a:bodyPr wrap="square" lIns="0" tIns="0" rIns="0" bIns="0" rtlCol="0" anchor="ctr"/>
          <a:lstStyle/>
          <a:p>
            <a:pPr indent="0" marL="0">
              <a:buNone/>
            </a:pPr>
            <a:r>
              <a:rPr lang="en-US" sz="1400" b="1" dirty="0">
                <a:solidFill>
                  <a:schemeClr val="tx1"/>
                </a:solidFill>
              </a:rPr>
              <a:t>Delta Lake</a:t>
            </a:r>
            <a:endParaRPr lang="en-US" sz="1400" dirty="0"/>
          </a:p>
          <a:p>
            <a:pPr indent="0" marL="0">
              <a:buNone/>
            </a:pPr>
            <a:r>
              <a:rPr lang="en-US" sz="1200" dirty="0">
                <a:solidFill>
                  <a:schemeClr val="accent6"/>
                </a:solidFill>
              </a:rPr>
              <a:t>Bronze, Silver, Gold tables</a:t>
            </a:r>
            <a:endParaRPr lang="en-US" sz="1400" dirty="0"/>
          </a:p>
        </p:txBody>
      </p:sp>
      <p:sp>
        <p:nvSpPr>
          <p:cNvPr id="25" name="Tool card Power BI"/>
          <p:cNvSpPr/>
          <p:nvPr/>
        </p:nvSpPr>
        <p:spPr>
          <a:xfrm>
            <a:off x="6492240" y="3383280"/>
            <a:ext cx="2194560" cy="1005840"/>
          </a:xfrm>
          <a:prstGeom prst="roundRect">
            <a:avLst>
              <a:gd name="adj" fmla="val 10909"/>
            </a:avLst>
          </a:prstGeom>
          <a:solidFill>
            <a:schemeClr val="bg2"/>
          </a:solidFill>
          <a:ln/>
        </p:spPr>
      </p:sp>
      <p:sp>
        <p:nvSpPr>
          <p:cNvPr id="26" name="Power BI circle"/>
          <p:cNvSpPr/>
          <p:nvPr/>
        </p:nvSpPr>
        <p:spPr>
          <a:xfrm>
            <a:off x="6629400" y="3657600"/>
            <a:ext cx="457200" cy="457200"/>
          </a:xfrm>
          <a:prstGeom prst="ellipse">
            <a:avLst/>
          </a:prstGeom>
          <a:solidFill>
            <a:schemeClr val="tx2"/>
          </a:solidFill>
          <a:ln/>
        </p:spPr>
      </p:sp>
      <p:pic>
        <p:nvPicPr>
          <p:cNvPr id="27" name="Power BI image" descr="Power BI">    </p:cNvPr>
          <p:cNvPicPr>
            <a:picLocks noChangeAspect="1"/>
          </p:cNvPicPr>
          <p:nvPr/>
        </p:nvPicPr>
        <p:blipFill>
          <a:blip r:embed="rId6"/>
          <a:stretch>
            <a:fillRect/>
          </a:stretch>
        </p:blipFill>
        <p:spPr>
          <a:xfrm>
            <a:off x="6748272" y="3776472"/>
            <a:ext cx="219456" cy="219456"/>
          </a:xfrm>
          <a:prstGeom prst="rect">
            <a:avLst/>
          </a:prstGeom>
        </p:spPr>
      </p:pic>
      <p:sp>
        <p:nvSpPr>
          <p:cNvPr id="28" name="Tool text Power BI"/>
          <p:cNvSpPr txBox="1"/>
          <p:nvPr/>
        </p:nvSpPr>
        <p:spPr>
          <a:xfrm>
            <a:off x="7178040" y="3474720"/>
            <a:ext cx="1417320" cy="822960"/>
          </a:xfrm>
          <a:prstGeom prst="rect">
            <a:avLst/>
          </a:prstGeom>
          <a:noFill/>
          <a:ln/>
        </p:spPr>
        <p:txBody>
          <a:bodyPr wrap="square" lIns="0" tIns="0" rIns="0" bIns="0" rtlCol="0" anchor="ctr"/>
          <a:lstStyle/>
          <a:p>
            <a:pPr indent="0" marL="0">
              <a:buNone/>
            </a:pPr>
            <a:r>
              <a:rPr lang="en-US" sz="1400" b="1" dirty="0">
                <a:solidFill>
                  <a:schemeClr val="tx1"/>
                </a:solidFill>
              </a:rPr>
              <a:t>Power BI</a:t>
            </a:r>
            <a:endParaRPr lang="en-US" sz="1400" dirty="0"/>
          </a:p>
          <a:p>
            <a:pPr indent="0" marL="0">
              <a:buNone/>
            </a:pPr>
            <a:r>
              <a:rPr lang="en-US" sz="1200" dirty="0">
                <a:solidFill>
                  <a:schemeClr val="accent6"/>
                </a:solidFill>
              </a:rPr>
              <a:t>KPIs and dashboard</a:t>
            </a:r>
            <a:endParaRPr lang="en-US" sz="14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Business Problem and Questions</a:t>
            </a:r>
            <a:endParaRPr lang="en-US" sz="2800" dirty="0"/>
          </a:p>
        </p:txBody>
      </p:sp>
      <p:sp>
        <p:nvSpPr>
          <p:cNvPr id="3" name="Problem card"/>
          <p:cNvSpPr/>
          <p:nvPr/>
        </p:nvSpPr>
        <p:spPr>
          <a:xfrm>
            <a:off x="457200" y="1097280"/>
            <a:ext cx="3383280" cy="3383280"/>
          </a:xfrm>
          <a:prstGeom prst="roundRect">
            <a:avLst>
              <a:gd name="adj" fmla="val 3243"/>
            </a:avLst>
          </a:prstGeom>
          <a:solidFill>
            <a:schemeClr val="bg2"/>
          </a:solidFill>
          <a:ln/>
        </p:spPr>
      </p:sp>
      <p:sp>
        <p:nvSpPr>
          <p:cNvPr id="4" name="Problem text"/>
          <p:cNvSpPr txBox="1"/>
          <p:nvPr/>
        </p:nvSpPr>
        <p:spPr>
          <a:xfrm>
            <a:off x="640080" y="1234440"/>
            <a:ext cx="3017520" cy="3108960"/>
          </a:xfrm>
          <a:prstGeom prst="rect">
            <a:avLst/>
          </a:prstGeom>
          <a:noFill/>
          <a:ln/>
        </p:spPr>
        <p:txBody>
          <a:bodyPr wrap="square" lIns="0" tIns="0" rIns="0" bIns="0" rtlCol="0" anchor="t"/>
          <a:lstStyle/>
          <a:p>
            <a:pPr indent="0" marL="0">
              <a:spcAft>
                <a:spcPts val="800"/>
              </a:spcAft>
              <a:buNone/>
            </a:pPr>
            <a:r>
              <a:rPr lang="en-US" sz="2000" b="1" dirty="0">
                <a:solidFill>
                  <a:schemeClr val="tx1"/>
                </a:solidFill>
              </a:rPr>
              <a:t>The Problem</a:t>
            </a:r>
            <a:endParaRPr lang="en-US" sz="2000" dirty="0"/>
          </a:p>
          <a:p>
            <a:pPr indent="0" marL="0">
              <a:spcAft>
                <a:spcPts val="1000"/>
              </a:spcAft>
              <a:buNone/>
            </a:pPr>
            <a:r>
              <a:rPr lang="en-US" sz="1600" dirty="0">
                <a:solidFill>
                  <a:schemeClr val="tx1"/>
                </a:solidFill>
              </a:rPr>
              <a:t>How can a multi-dimensional robotics dataset become a repeatable analytical workflow while keeping its synthetic, unverified limits visible?</a:t>
            </a:r>
            <a:endParaRPr lang="en-US" sz="2000" dirty="0"/>
          </a:p>
          <a:p>
            <a:pPr indent="0" marL="0">
              <a:buNone/>
            </a:pPr>
            <a:r>
              <a:rPr lang="en-US" sz="1600" i="1" dirty="0">
                <a:solidFill>
                  <a:schemeClr val="accent5"/>
                </a:solidFill>
              </a:rPr>
              <a:t>Risk if ignored: mixed currencies, and illustrative revenue read as real sales.</a:t>
            </a:r>
            <a:endParaRPr lang="en-US" sz="2000" dirty="0"/>
          </a:p>
        </p:txBody>
      </p:sp>
      <p:sp>
        <p:nvSpPr>
          <p:cNvPr id="5" name="Question card 1"/>
          <p:cNvSpPr/>
          <p:nvPr/>
        </p:nvSpPr>
        <p:spPr>
          <a:xfrm>
            <a:off x="4114800" y="1097280"/>
            <a:ext cx="4572000" cy="603504"/>
          </a:xfrm>
          <a:prstGeom prst="roundRect">
            <a:avLst>
              <a:gd name="adj" fmla="val 18182"/>
            </a:avLst>
          </a:prstGeom>
          <a:solidFill>
            <a:schemeClr val="bg2"/>
          </a:solidFill>
          <a:ln/>
        </p:spPr>
      </p:sp>
      <p:sp>
        <p:nvSpPr>
          <p:cNvPr id="6" name="Question number 1"/>
          <p:cNvSpPr/>
          <p:nvPr/>
        </p:nvSpPr>
        <p:spPr>
          <a:xfrm>
            <a:off x="4251960" y="1225296"/>
            <a:ext cx="347472" cy="347472"/>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7" name="Question text 1"/>
          <p:cNvSpPr txBox="1"/>
          <p:nvPr/>
        </p:nvSpPr>
        <p:spPr>
          <a:xfrm>
            <a:off x="4754880" y="1097280"/>
            <a:ext cx="3794760" cy="603504"/>
          </a:xfrm>
          <a:prstGeom prst="rect">
            <a:avLst/>
          </a:prstGeom>
          <a:noFill/>
          <a:ln/>
        </p:spPr>
        <p:txBody>
          <a:bodyPr wrap="square" lIns="0" tIns="0" rIns="0" bIns="0" rtlCol="0" anchor="ctr"/>
          <a:lstStyle/>
          <a:p>
            <a:pPr indent="0" marL="0">
              <a:buNone/>
            </a:pPr>
            <a:r>
              <a:rPr lang="en-US" sz="1400" dirty="0">
                <a:solidFill>
                  <a:schemeClr val="tx1"/>
                </a:solidFill>
              </a:rPr>
              <a:t>Which countries contribute the most revenue?</a:t>
            </a:r>
            <a:endParaRPr lang="en-US" sz="1400" dirty="0"/>
          </a:p>
        </p:txBody>
      </p:sp>
      <p:sp>
        <p:nvSpPr>
          <p:cNvPr id="8" name="Question card 2"/>
          <p:cNvSpPr/>
          <p:nvPr/>
        </p:nvSpPr>
        <p:spPr>
          <a:xfrm>
            <a:off x="4114800" y="1783080"/>
            <a:ext cx="4572000" cy="603504"/>
          </a:xfrm>
          <a:prstGeom prst="roundRect">
            <a:avLst>
              <a:gd name="adj" fmla="val 18182"/>
            </a:avLst>
          </a:prstGeom>
          <a:solidFill>
            <a:schemeClr val="bg2"/>
          </a:solidFill>
          <a:ln/>
        </p:spPr>
      </p:sp>
      <p:sp>
        <p:nvSpPr>
          <p:cNvPr id="9" name="Question number 2"/>
          <p:cNvSpPr/>
          <p:nvPr/>
        </p:nvSpPr>
        <p:spPr>
          <a:xfrm>
            <a:off x="4251960" y="1911096"/>
            <a:ext cx="347472" cy="347472"/>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10" name="Question text 2"/>
          <p:cNvSpPr txBox="1"/>
          <p:nvPr/>
        </p:nvSpPr>
        <p:spPr>
          <a:xfrm>
            <a:off x="4754880" y="1783080"/>
            <a:ext cx="3794760" cy="603504"/>
          </a:xfrm>
          <a:prstGeom prst="rect">
            <a:avLst/>
          </a:prstGeom>
          <a:noFill/>
          <a:ln/>
        </p:spPr>
        <p:txBody>
          <a:bodyPr wrap="square" lIns="0" tIns="0" rIns="0" bIns="0" rtlCol="0" anchor="ctr"/>
          <a:lstStyle/>
          <a:p>
            <a:pPr indent="0" marL="0">
              <a:buNone/>
            </a:pPr>
            <a:r>
              <a:rPr lang="en-US" sz="1400" dirty="0">
                <a:solidFill>
                  <a:schemeClr val="tx1"/>
                </a:solidFill>
              </a:rPr>
              <a:t>How does revenue differ by industry, product and channel?</a:t>
            </a:r>
            <a:endParaRPr lang="en-US" sz="1400" dirty="0"/>
          </a:p>
        </p:txBody>
      </p:sp>
      <p:sp>
        <p:nvSpPr>
          <p:cNvPr id="11" name="Question card 3"/>
          <p:cNvSpPr/>
          <p:nvPr/>
        </p:nvSpPr>
        <p:spPr>
          <a:xfrm>
            <a:off x="4114800" y="2468880"/>
            <a:ext cx="4572000" cy="603504"/>
          </a:xfrm>
          <a:prstGeom prst="roundRect">
            <a:avLst>
              <a:gd name="adj" fmla="val 18182"/>
            </a:avLst>
          </a:prstGeom>
          <a:solidFill>
            <a:schemeClr val="bg2"/>
          </a:solidFill>
          <a:ln/>
        </p:spPr>
      </p:sp>
      <p:sp>
        <p:nvSpPr>
          <p:cNvPr id="12" name="Question number 3"/>
          <p:cNvSpPr/>
          <p:nvPr/>
        </p:nvSpPr>
        <p:spPr>
          <a:xfrm>
            <a:off x="4251960" y="2596896"/>
            <a:ext cx="347472" cy="347472"/>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13" name="Question text 3"/>
          <p:cNvSpPr txBox="1"/>
          <p:nvPr/>
        </p:nvSpPr>
        <p:spPr>
          <a:xfrm>
            <a:off x="4754880" y="2468880"/>
            <a:ext cx="3794760" cy="603504"/>
          </a:xfrm>
          <a:prstGeom prst="rect">
            <a:avLst/>
          </a:prstGeom>
          <a:noFill/>
          <a:ln/>
        </p:spPr>
        <p:txBody>
          <a:bodyPr wrap="square" lIns="0" tIns="0" rIns="0" bIns="0" rtlCol="0" anchor="ctr"/>
          <a:lstStyle/>
          <a:p>
            <a:pPr indent="0" marL="0">
              <a:buNone/>
            </a:pPr>
            <a:r>
              <a:rPr lang="en-US" sz="1400" dirty="0">
                <a:solidFill>
                  <a:schemeClr val="tx1"/>
                </a:solidFill>
              </a:rPr>
              <a:t>What monthly patterns appear over time?</a:t>
            </a:r>
            <a:endParaRPr lang="en-US" sz="1400" dirty="0"/>
          </a:p>
        </p:txBody>
      </p:sp>
      <p:sp>
        <p:nvSpPr>
          <p:cNvPr id="14" name="Question card 4"/>
          <p:cNvSpPr/>
          <p:nvPr/>
        </p:nvSpPr>
        <p:spPr>
          <a:xfrm>
            <a:off x="4114800" y="3154680"/>
            <a:ext cx="4572000" cy="603504"/>
          </a:xfrm>
          <a:prstGeom prst="roundRect">
            <a:avLst>
              <a:gd name="adj" fmla="val 18182"/>
            </a:avLst>
          </a:prstGeom>
          <a:solidFill>
            <a:schemeClr val="bg2"/>
          </a:solidFill>
          <a:ln/>
        </p:spPr>
      </p:sp>
      <p:sp>
        <p:nvSpPr>
          <p:cNvPr id="15" name="Question number 4"/>
          <p:cNvSpPr/>
          <p:nvPr/>
        </p:nvSpPr>
        <p:spPr>
          <a:xfrm>
            <a:off x="4251960" y="3282696"/>
            <a:ext cx="347472" cy="347472"/>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16" name="Question text 4"/>
          <p:cNvSpPr txBox="1"/>
          <p:nvPr/>
        </p:nvSpPr>
        <p:spPr>
          <a:xfrm>
            <a:off x="4754880" y="3154680"/>
            <a:ext cx="3794760" cy="603504"/>
          </a:xfrm>
          <a:prstGeom prst="rect">
            <a:avLst/>
          </a:prstGeom>
          <a:noFill/>
          <a:ln/>
        </p:spPr>
        <p:txBody>
          <a:bodyPr wrap="square" lIns="0" tIns="0" rIns="0" bIns="0" rtlCol="0" anchor="ctr"/>
          <a:lstStyle/>
          <a:p>
            <a:pPr indent="0" marL="0">
              <a:buNone/>
            </a:pPr>
            <a:r>
              <a:rPr lang="en-US" sz="1400" dirty="0">
                <a:solidFill>
                  <a:schemeClr val="tx1"/>
                </a:solidFill>
              </a:rPr>
              <a:t>Which data-quality issues need attention?</a:t>
            </a:r>
            <a:endParaRPr lang="en-US" sz="1400" dirty="0"/>
          </a:p>
        </p:txBody>
      </p:sp>
      <p:sp>
        <p:nvSpPr>
          <p:cNvPr id="17" name="Question card 5"/>
          <p:cNvSpPr/>
          <p:nvPr/>
        </p:nvSpPr>
        <p:spPr>
          <a:xfrm>
            <a:off x="4114800" y="3840480"/>
            <a:ext cx="4572000" cy="603504"/>
          </a:xfrm>
          <a:prstGeom prst="roundRect">
            <a:avLst>
              <a:gd name="adj" fmla="val 18182"/>
            </a:avLst>
          </a:prstGeom>
          <a:solidFill>
            <a:schemeClr val="bg2"/>
          </a:solidFill>
          <a:ln/>
        </p:spPr>
      </p:sp>
      <p:sp>
        <p:nvSpPr>
          <p:cNvPr id="18" name="Question number 5"/>
          <p:cNvSpPr/>
          <p:nvPr/>
        </p:nvSpPr>
        <p:spPr>
          <a:xfrm>
            <a:off x="4251960" y="3968496"/>
            <a:ext cx="347472" cy="347472"/>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tx1"/>
                </a:solidFill>
              </a:rPr>
              <a:t>5</a:t>
            </a:r>
            <a:endParaRPr lang="en-US" sz="1400" dirty="0"/>
          </a:p>
        </p:txBody>
      </p:sp>
      <p:sp>
        <p:nvSpPr>
          <p:cNvPr id="19" name="Question text 5"/>
          <p:cNvSpPr txBox="1"/>
          <p:nvPr/>
        </p:nvSpPr>
        <p:spPr>
          <a:xfrm>
            <a:off x="4754880" y="3840480"/>
            <a:ext cx="3794760" cy="603504"/>
          </a:xfrm>
          <a:prstGeom prst="rect">
            <a:avLst/>
          </a:prstGeom>
          <a:noFill/>
          <a:ln/>
        </p:spPr>
        <p:txBody>
          <a:bodyPr wrap="square" lIns="0" tIns="0" rIns="0" bIns="0" rtlCol="0" anchor="ctr"/>
          <a:lstStyle/>
          <a:p>
            <a:pPr indent="0" marL="0">
              <a:buNone/>
            </a:pPr>
            <a:r>
              <a:rPr lang="en-US" sz="1400" dirty="0">
                <a:solidFill>
                  <a:schemeClr val="tx1"/>
                </a:solidFill>
              </a:rPr>
              <a:t>How can a governed pipeline make limitations visible?</a:t>
            </a:r>
            <a:endParaRPr lang="en-US" sz="14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Objectives, Scope and Limitations</a:t>
            </a:r>
            <a:endParaRPr lang="en-US" sz="2800" dirty="0"/>
          </a:p>
        </p:txBody>
      </p:sp>
      <p:sp>
        <p:nvSpPr>
          <p:cNvPr id="3" name="Column card Objectives"/>
          <p:cNvSpPr/>
          <p:nvPr/>
        </p:nvSpPr>
        <p:spPr>
          <a:xfrm>
            <a:off x="457200" y="1097280"/>
            <a:ext cx="2624328" cy="3383280"/>
          </a:xfrm>
          <a:prstGeom prst="roundRect">
            <a:avLst>
              <a:gd name="adj" fmla="val 4181"/>
            </a:avLst>
          </a:prstGeom>
          <a:solidFill>
            <a:schemeClr val="bg2"/>
          </a:solidFill>
          <a:ln/>
        </p:spPr>
      </p:sp>
      <p:sp>
        <p:nvSpPr>
          <p:cNvPr id="4" name="Objectives circle"/>
          <p:cNvSpPr/>
          <p:nvPr/>
        </p:nvSpPr>
        <p:spPr>
          <a:xfrm>
            <a:off x="640080" y="1280160"/>
            <a:ext cx="502920" cy="502920"/>
          </a:xfrm>
          <a:prstGeom prst="ellipse">
            <a:avLst/>
          </a:prstGeom>
          <a:solidFill>
            <a:schemeClr val="tx2"/>
          </a:solidFill>
          <a:ln/>
        </p:spPr>
      </p:sp>
      <p:pic>
        <p:nvPicPr>
          <p:cNvPr id="5" name="Objectives image" descr="Objectives">    </p:cNvPr>
          <p:cNvPicPr>
            <a:picLocks noChangeAspect="1"/>
          </p:cNvPicPr>
          <p:nvPr/>
        </p:nvPicPr>
        <p:blipFill>
          <a:blip r:embed="rId1"/>
          <a:stretch>
            <a:fillRect/>
          </a:stretch>
        </p:blipFill>
        <p:spPr>
          <a:xfrm>
            <a:off x="770839" y="1410919"/>
            <a:ext cx="241402" cy="241402"/>
          </a:xfrm>
          <a:prstGeom prst="rect">
            <a:avLst/>
          </a:prstGeom>
        </p:spPr>
      </p:pic>
      <p:sp>
        <p:nvSpPr>
          <p:cNvPr id="6" name="Column heading Objectives"/>
          <p:cNvSpPr txBox="1"/>
          <p:nvPr/>
        </p:nvSpPr>
        <p:spPr>
          <a:xfrm>
            <a:off x="1280160" y="1280160"/>
            <a:ext cx="1691640" cy="502920"/>
          </a:xfrm>
          <a:prstGeom prst="rect">
            <a:avLst/>
          </a:prstGeom>
          <a:noFill/>
          <a:ln/>
        </p:spPr>
        <p:txBody>
          <a:bodyPr wrap="square" lIns="0" tIns="0" rIns="0" bIns="0" rtlCol="0" anchor="ctr"/>
          <a:lstStyle/>
          <a:p>
            <a:pPr indent="0" marL="0">
              <a:buNone/>
            </a:pPr>
            <a:r>
              <a:rPr lang="en-US" sz="2000" b="1" dirty="0">
                <a:solidFill>
                  <a:schemeClr val="tx1"/>
                </a:solidFill>
              </a:rPr>
              <a:t>Objectives</a:t>
            </a:r>
            <a:endParaRPr lang="en-US" sz="2000" dirty="0"/>
          </a:p>
        </p:txBody>
      </p:sp>
      <p:sp>
        <p:nvSpPr>
          <p:cNvPr id="7" name="Column bullets Objectives"/>
          <p:cNvSpPr txBox="1"/>
          <p:nvPr/>
        </p:nvSpPr>
        <p:spPr>
          <a:xfrm>
            <a:off x="640080" y="2011680"/>
            <a:ext cx="2286000" cy="23774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Profile and document all 35 fields</a:t>
            </a:r>
            <a:endParaRPr lang="en-US" sz="1400" dirty="0"/>
          </a:p>
          <a:p>
            <a:pPr marL="342900" indent="-342900">
              <a:spcAft>
                <a:spcPts val="800"/>
              </a:spcAft>
              <a:buSzPct val="100000"/>
              <a:buChar char="•"/>
            </a:pPr>
            <a:r>
              <a:rPr lang="en-US" sz="1400" dirty="0">
                <a:solidFill>
                  <a:schemeClr val="tx1"/>
                </a:solidFill>
              </a:rPr>
              <a:t>Check missing, duplicate and date quality</a:t>
            </a:r>
            <a:endParaRPr lang="en-US" sz="1400" dirty="0"/>
          </a:p>
          <a:p>
            <a:pPr marL="342900" indent="-342900">
              <a:spcAft>
                <a:spcPts val="800"/>
              </a:spcAft>
              <a:buSzPct val="100000"/>
              <a:buChar char="•"/>
            </a:pPr>
            <a:r>
              <a:rPr lang="en-US" sz="1400" dirty="0">
                <a:solidFill>
                  <a:schemeClr val="tx1"/>
                </a:solidFill>
              </a:rPr>
              <a:t>Compare revenue across key dimensions</a:t>
            </a:r>
            <a:endParaRPr lang="en-US" sz="1400" dirty="0"/>
          </a:p>
          <a:p>
            <a:pPr marL="342900" indent="-342900">
              <a:spcAft>
                <a:spcPts val="800"/>
              </a:spcAft>
              <a:buSzPct val="100000"/>
              <a:buChar char="•"/>
            </a:pPr>
            <a:r>
              <a:rPr lang="en-US" sz="1400" dirty="0">
                <a:solidFill>
                  <a:schemeClr val="tx1"/>
                </a:solidFill>
              </a:rPr>
              <a:t>Build SQL, Python, Spark and Power BI outputs</a:t>
            </a:r>
            <a:endParaRPr lang="en-US" sz="1400" dirty="0"/>
          </a:p>
        </p:txBody>
      </p:sp>
      <p:sp>
        <p:nvSpPr>
          <p:cNvPr id="8" name="Column card Scope"/>
          <p:cNvSpPr/>
          <p:nvPr/>
        </p:nvSpPr>
        <p:spPr>
          <a:xfrm>
            <a:off x="3259836" y="1097280"/>
            <a:ext cx="2624328" cy="3383280"/>
          </a:xfrm>
          <a:prstGeom prst="roundRect">
            <a:avLst>
              <a:gd name="adj" fmla="val 4181"/>
            </a:avLst>
          </a:prstGeom>
          <a:solidFill>
            <a:schemeClr val="bg2"/>
          </a:solidFill>
          <a:ln/>
        </p:spPr>
      </p:sp>
      <p:sp>
        <p:nvSpPr>
          <p:cNvPr id="9" name="Scope circle"/>
          <p:cNvSpPr/>
          <p:nvPr/>
        </p:nvSpPr>
        <p:spPr>
          <a:xfrm>
            <a:off x="3442716" y="1280160"/>
            <a:ext cx="502920" cy="502920"/>
          </a:xfrm>
          <a:prstGeom prst="ellipse">
            <a:avLst/>
          </a:prstGeom>
          <a:solidFill>
            <a:schemeClr val="tx2"/>
          </a:solidFill>
          <a:ln/>
        </p:spPr>
      </p:sp>
      <p:pic>
        <p:nvPicPr>
          <p:cNvPr id="10" name="Scope image" descr="Scope">    </p:cNvPr>
          <p:cNvPicPr>
            <a:picLocks noChangeAspect="1"/>
          </p:cNvPicPr>
          <p:nvPr/>
        </p:nvPicPr>
        <p:blipFill>
          <a:blip r:embed="rId2"/>
          <a:stretch>
            <a:fillRect/>
          </a:stretch>
        </p:blipFill>
        <p:spPr>
          <a:xfrm>
            <a:off x="3573475" y="1410919"/>
            <a:ext cx="241402" cy="241402"/>
          </a:xfrm>
          <a:prstGeom prst="rect">
            <a:avLst/>
          </a:prstGeom>
        </p:spPr>
      </p:pic>
      <p:sp>
        <p:nvSpPr>
          <p:cNvPr id="11" name="Column heading Scope"/>
          <p:cNvSpPr txBox="1"/>
          <p:nvPr/>
        </p:nvSpPr>
        <p:spPr>
          <a:xfrm>
            <a:off x="4082796" y="1280160"/>
            <a:ext cx="1691640" cy="502920"/>
          </a:xfrm>
          <a:prstGeom prst="rect">
            <a:avLst/>
          </a:prstGeom>
          <a:noFill/>
          <a:ln/>
        </p:spPr>
        <p:txBody>
          <a:bodyPr wrap="square" lIns="0" tIns="0" rIns="0" bIns="0" rtlCol="0" anchor="ctr"/>
          <a:lstStyle/>
          <a:p>
            <a:pPr indent="0" marL="0">
              <a:buNone/>
            </a:pPr>
            <a:r>
              <a:rPr lang="en-US" sz="2000" b="1" dirty="0">
                <a:solidFill>
                  <a:schemeClr val="tx1"/>
                </a:solidFill>
              </a:rPr>
              <a:t>Scope</a:t>
            </a:r>
            <a:endParaRPr lang="en-US" sz="2000" dirty="0"/>
          </a:p>
        </p:txBody>
      </p:sp>
      <p:sp>
        <p:nvSpPr>
          <p:cNvPr id="12" name="Column bullets Scope"/>
          <p:cNvSpPr txBox="1"/>
          <p:nvPr/>
        </p:nvSpPr>
        <p:spPr>
          <a:xfrm>
            <a:off x="3442716" y="2011680"/>
            <a:ext cx="2286000" cy="23774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Uploaded CSV file only</a:t>
            </a:r>
            <a:endParaRPr lang="en-US" sz="1400" dirty="0"/>
          </a:p>
          <a:p>
            <a:pPr marL="342900" indent="-342900">
              <a:spcAft>
                <a:spcPts val="800"/>
              </a:spcAft>
              <a:buSzPct val="100000"/>
              <a:buChar char="•"/>
            </a:pPr>
            <a:r>
              <a:rPr lang="en-US" sz="1400" dirty="0">
                <a:solidFill>
                  <a:schemeClr val="tx1"/>
                </a:solidFill>
              </a:rPr>
              <a:t>Descriptive analytics, not forecasting</a:t>
            </a:r>
            <a:endParaRPr lang="en-US" sz="1400" dirty="0"/>
          </a:p>
          <a:p>
            <a:pPr marL="342900" indent="-342900">
              <a:spcAft>
                <a:spcPts val="800"/>
              </a:spcAft>
              <a:buSzPct val="100000"/>
              <a:buChar char="•"/>
            </a:pPr>
            <a:r>
              <a:rPr lang="en-US" sz="1400" dirty="0">
                <a:solidFill>
                  <a:schemeClr val="tx1"/>
                </a:solidFill>
              </a:rPr>
              <a:t>No claims on real market size, customers or vendor relationships</a:t>
            </a:r>
            <a:endParaRPr lang="en-US" sz="1400" dirty="0"/>
          </a:p>
        </p:txBody>
      </p:sp>
      <p:sp>
        <p:nvSpPr>
          <p:cNvPr id="13" name="Column card Limitations"/>
          <p:cNvSpPr/>
          <p:nvPr/>
        </p:nvSpPr>
        <p:spPr>
          <a:xfrm>
            <a:off x="6062472" y="1097280"/>
            <a:ext cx="2624328" cy="3383280"/>
          </a:xfrm>
          <a:prstGeom prst="roundRect">
            <a:avLst>
              <a:gd name="adj" fmla="val 4181"/>
            </a:avLst>
          </a:prstGeom>
          <a:solidFill>
            <a:schemeClr val="bg2"/>
          </a:solidFill>
          <a:ln/>
        </p:spPr>
      </p:sp>
      <p:sp>
        <p:nvSpPr>
          <p:cNvPr id="14" name="Limitations circle"/>
          <p:cNvSpPr/>
          <p:nvPr/>
        </p:nvSpPr>
        <p:spPr>
          <a:xfrm>
            <a:off x="6245352" y="1280160"/>
            <a:ext cx="502920" cy="502920"/>
          </a:xfrm>
          <a:prstGeom prst="ellipse">
            <a:avLst/>
          </a:prstGeom>
          <a:solidFill>
            <a:schemeClr val="accent5"/>
          </a:solidFill>
          <a:ln/>
        </p:spPr>
      </p:sp>
      <p:pic>
        <p:nvPicPr>
          <p:cNvPr id="15" name="Limitations image" descr="Limitations">    </p:cNvPr>
          <p:cNvPicPr>
            <a:picLocks noChangeAspect="1"/>
          </p:cNvPicPr>
          <p:nvPr/>
        </p:nvPicPr>
        <p:blipFill>
          <a:blip r:embed="rId3"/>
          <a:stretch>
            <a:fillRect/>
          </a:stretch>
        </p:blipFill>
        <p:spPr>
          <a:xfrm>
            <a:off x="6376111" y="1410919"/>
            <a:ext cx="241402" cy="241402"/>
          </a:xfrm>
          <a:prstGeom prst="rect">
            <a:avLst/>
          </a:prstGeom>
        </p:spPr>
      </p:pic>
      <p:sp>
        <p:nvSpPr>
          <p:cNvPr id="16" name="Column heading Limitations"/>
          <p:cNvSpPr txBox="1"/>
          <p:nvPr/>
        </p:nvSpPr>
        <p:spPr>
          <a:xfrm>
            <a:off x="6885432" y="1280160"/>
            <a:ext cx="1691640" cy="502920"/>
          </a:xfrm>
          <a:prstGeom prst="rect">
            <a:avLst/>
          </a:prstGeom>
          <a:noFill/>
          <a:ln/>
        </p:spPr>
        <p:txBody>
          <a:bodyPr wrap="square" lIns="0" tIns="0" rIns="0" bIns="0" rtlCol="0" anchor="ctr"/>
          <a:lstStyle/>
          <a:p>
            <a:pPr indent="0" marL="0">
              <a:buNone/>
            </a:pPr>
            <a:r>
              <a:rPr lang="en-US" sz="2000" b="1" dirty="0">
                <a:solidFill>
                  <a:schemeClr val="tx1"/>
                </a:solidFill>
              </a:rPr>
              <a:t>Limitations</a:t>
            </a:r>
            <a:endParaRPr lang="en-US" sz="2000" dirty="0"/>
          </a:p>
        </p:txBody>
      </p:sp>
      <p:sp>
        <p:nvSpPr>
          <p:cNvPr id="17" name="Column bullets Limitations"/>
          <p:cNvSpPr txBox="1"/>
          <p:nvPr/>
        </p:nvSpPr>
        <p:spPr>
          <a:xfrm>
            <a:off x="6245352" y="2011680"/>
            <a:ext cx="2286000" cy="23774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Records are synthetic and illustrative</a:t>
            </a:r>
            <a:endParaRPr lang="en-US" sz="1400" dirty="0"/>
          </a:p>
          <a:p>
            <a:pPr marL="342900" indent="-342900">
              <a:spcAft>
                <a:spcPts val="800"/>
              </a:spcAft>
              <a:buSzPct val="100000"/>
              <a:buChar char="•"/>
            </a:pPr>
            <a:r>
              <a:rPr lang="en-US" sz="1400" dirty="0">
                <a:solidFill>
                  <a:schemeClr val="tx1"/>
                </a:solidFill>
              </a:rPr>
              <a:t>USD-labelled fields, but currency codes vary</a:t>
            </a:r>
            <a:endParaRPr lang="en-US" sz="1400" dirty="0"/>
          </a:p>
          <a:p>
            <a:pPr marL="342900" indent="-342900">
              <a:spcAft>
                <a:spcPts val="800"/>
              </a:spcAft>
              <a:buSzPct val="100000"/>
              <a:buChar char="•"/>
            </a:pPr>
            <a:r>
              <a:rPr lang="en-US" sz="1400" dirty="0">
                <a:solidFill>
                  <a:schemeClr val="tx1"/>
                </a:solidFill>
              </a:rPr>
              <a:t>Fit scores are not technical validation</a:t>
            </a:r>
            <a:endParaRPr lang="en-US" sz="14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Dataset Overview</a:t>
            </a:r>
            <a:endParaRPr lang="en-US" sz="2800" dirty="0"/>
          </a:p>
        </p:txBody>
      </p:sp>
      <p:sp>
        <p:nvSpPr>
          <p:cNvPr id="3" name="Stat card Records"/>
          <p:cNvSpPr/>
          <p:nvPr/>
        </p:nvSpPr>
        <p:spPr>
          <a:xfrm>
            <a:off x="457200" y="1097280"/>
            <a:ext cx="1920240" cy="1234440"/>
          </a:xfrm>
          <a:prstGeom prst="roundRect">
            <a:avLst>
              <a:gd name="adj" fmla="val 8889"/>
            </a:avLst>
          </a:prstGeom>
          <a:solidFill>
            <a:schemeClr val="bg2"/>
          </a:solidFill>
          <a:ln/>
        </p:spPr>
      </p:sp>
      <p:sp>
        <p:nvSpPr>
          <p:cNvPr id="4" name="Stat value Records"/>
          <p:cNvSpPr txBox="1"/>
          <p:nvPr/>
        </p:nvSpPr>
        <p:spPr>
          <a:xfrm>
            <a:off x="457200" y="1188720"/>
            <a:ext cx="1920240" cy="640080"/>
          </a:xfrm>
          <a:prstGeom prst="rect">
            <a:avLst/>
          </a:prstGeom>
          <a:noFill/>
          <a:ln/>
        </p:spPr>
        <p:txBody>
          <a:bodyPr wrap="square" lIns="0" tIns="0" rIns="0" bIns="0" rtlCol="0" anchor="ctr"/>
          <a:lstStyle/>
          <a:p>
            <a:pPr algn="ctr" indent="0" marL="0">
              <a:buNone/>
            </a:pPr>
            <a:r>
              <a:rPr lang="en-US" sz="3400" b="1" dirty="0">
                <a:solidFill>
                  <a:schemeClr val="tx1"/>
                </a:solidFill>
              </a:rPr>
              <a:t>50,000</a:t>
            </a:r>
            <a:endParaRPr lang="en-US" sz="3400" dirty="0"/>
          </a:p>
        </p:txBody>
      </p:sp>
      <p:sp>
        <p:nvSpPr>
          <p:cNvPr id="5" name="Stat label Records"/>
          <p:cNvSpPr txBox="1"/>
          <p:nvPr/>
        </p:nvSpPr>
        <p:spPr>
          <a:xfrm>
            <a:off x="457200" y="1828800"/>
            <a:ext cx="1920240" cy="365760"/>
          </a:xfrm>
          <a:prstGeom prst="rect">
            <a:avLst/>
          </a:prstGeom>
          <a:noFill/>
          <a:ln/>
        </p:spPr>
        <p:txBody>
          <a:bodyPr wrap="square" lIns="0" tIns="0" rIns="0" bIns="0" rtlCol="0" anchor="ctr"/>
          <a:lstStyle/>
          <a:p>
            <a:pPr algn="ctr" indent="0" marL="0">
              <a:buNone/>
            </a:pPr>
            <a:r>
              <a:rPr lang="en-US" sz="1200" dirty="0">
                <a:solidFill>
                  <a:schemeClr val="accent6"/>
                </a:solidFill>
              </a:rPr>
              <a:t>Records</a:t>
            </a:r>
            <a:endParaRPr lang="en-US" sz="1200" dirty="0"/>
          </a:p>
        </p:txBody>
      </p:sp>
      <p:sp>
        <p:nvSpPr>
          <p:cNvPr id="6" name="Stat card Fields"/>
          <p:cNvSpPr/>
          <p:nvPr/>
        </p:nvSpPr>
        <p:spPr>
          <a:xfrm>
            <a:off x="2560320" y="1097280"/>
            <a:ext cx="1920240" cy="1234440"/>
          </a:xfrm>
          <a:prstGeom prst="roundRect">
            <a:avLst>
              <a:gd name="adj" fmla="val 8889"/>
            </a:avLst>
          </a:prstGeom>
          <a:solidFill>
            <a:schemeClr val="bg2"/>
          </a:solidFill>
          <a:ln/>
        </p:spPr>
      </p:sp>
      <p:sp>
        <p:nvSpPr>
          <p:cNvPr id="7" name="Stat value Fields"/>
          <p:cNvSpPr txBox="1"/>
          <p:nvPr/>
        </p:nvSpPr>
        <p:spPr>
          <a:xfrm>
            <a:off x="2560320" y="1188720"/>
            <a:ext cx="1920240" cy="640080"/>
          </a:xfrm>
          <a:prstGeom prst="rect">
            <a:avLst/>
          </a:prstGeom>
          <a:noFill/>
          <a:ln/>
        </p:spPr>
        <p:txBody>
          <a:bodyPr wrap="square" lIns="0" tIns="0" rIns="0" bIns="0" rtlCol="0" anchor="ctr"/>
          <a:lstStyle/>
          <a:p>
            <a:pPr algn="ctr" indent="0" marL="0">
              <a:buNone/>
            </a:pPr>
            <a:r>
              <a:rPr lang="en-US" sz="3400" b="1" dirty="0">
                <a:solidFill>
                  <a:schemeClr val="tx1"/>
                </a:solidFill>
              </a:rPr>
              <a:t>35</a:t>
            </a:r>
            <a:endParaRPr lang="en-US" sz="3400" dirty="0"/>
          </a:p>
        </p:txBody>
      </p:sp>
      <p:sp>
        <p:nvSpPr>
          <p:cNvPr id="8" name="Stat label Fields"/>
          <p:cNvSpPr txBox="1"/>
          <p:nvPr/>
        </p:nvSpPr>
        <p:spPr>
          <a:xfrm>
            <a:off x="2560320" y="1828800"/>
            <a:ext cx="1920240" cy="365760"/>
          </a:xfrm>
          <a:prstGeom prst="rect">
            <a:avLst/>
          </a:prstGeom>
          <a:noFill/>
          <a:ln/>
        </p:spPr>
        <p:txBody>
          <a:bodyPr wrap="square" lIns="0" tIns="0" rIns="0" bIns="0" rtlCol="0" anchor="ctr"/>
          <a:lstStyle/>
          <a:p>
            <a:pPr algn="ctr" indent="0" marL="0">
              <a:buNone/>
            </a:pPr>
            <a:r>
              <a:rPr lang="en-US" sz="1200" dirty="0">
                <a:solidFill>
                  <a:schemeClr val="accent6"/>
                </a:solidFill>
              </a:rPr>
              <a:t>Fields</a:t>
            </a:r>
            <a:endParaRPr lang="en-US" sz="1200" dirty="0"/>
          </a:p>
        </p:txBody>
      </p:sp>
      <p:sp>
        <p:nvSpPr>
          <p:cNvPr id="9" name="Stat card Missing cells (0.000%)"/>
          <p:cNvSpPr/>
          <p:nvPr/>
        </p:nvSpPr>
        <p:spPr>
          <a:xfrm>
            <a:off x="4663440" y="1097280"/>
            <a:ext cx="1920240" cy="1234440"/>
          </a:xfrm>
          <a:prstGeom prst="roundRect">
            <a:avLst>
              <a:gd name="adj" fmla="val 8889"/>
            </a:avLst>
          </a:prstGeom>
          <a:solidFill>
            <a:schemeClr val="bg2"/>
          </a:solidFill>
          <a:ln/>
        </p:spPr>
      </p:sp>
      <p:sp>
        <p:nvSpPr>
          <p:cNvPr id="10" name="Stat value Missing cells (0.000%)"/>
          <p:cNvSpPr txBox="1"/>
          <p:nvPr/>
        </p:nvSpPr>
        <p:spPr>
          <a:xfrm>
            <a:off x="4663440" y="1188720"/>
            <a:ext cx="1920240" cy="640080"/>
          </a:xfrm>
          <a:prstGeom prst="rect">
            <a:avLst/>
          </a:prstGeom>
          <a:noFill/>
          <a:ln/>
        </p:spPr>
        <p:txBody>
          <a:bodyPr wrap="square" lIns="0" tIns="0" rIns="0" bIns="0" rtlCol="0" anchor="ctr"/>
          <a:lstStyle/>
          <a:p>
            <a:pPr algn="ctr" indent="0" marL="0">
              <a:buNone/>
            </a:pPr>
            <a:r>
              <a:rPr lang="en-US" sz="3400" b="1" dirty="0">
                <a:solidFill>
                  <a:schemeClr val="tx1"/>
                </a:solidFill>
              </a:rPr>
              <a:t>0</a:t>
            </a:r>
            <a:endParaRPr lang="en-US" sz="3400" dirty="0"/>
          </a:p>
        </p:txBody>
      </p:sp>
      <p:sp>
        <p:nvSpPr>
          <p:cNvPr id="11" name="Stat label Missing cells (0.000%)"/>
          <p:cNvSpPr txBox="1"/>
          <p:nvPr/>
        </p:nvSpPr>
        <p:spPr>
          <a:xfrm>
            <a:off x="4663440" y="1828800"/>
            <a:ext cx="1920240" cy="365760"/>
          </a:xfrm>
          <a:prstGeom prst="rect">
            <a:avLst/>
          </a:prstGeom>
          <a:noFill/>
          <a:ln/>
        </p:spPr>
        <p:txBody>
          <a:bodyPr wrap="square" lIns="0" tIns="0" rIns="0" bIns="0" rtlCol="0" anchor="ctr"/>
          <a:lstStyle/>
          <a:p>
            <a:pPr algn="ctr" indent="0" marL="0">
              <a:buNone/>
            </a:pPr>
            <a:r>
              <a:rPr lang="en-US" sz="1200" dirty="0">
                <a:solidFill>
                  <a:schemeClr val="accent6"/>
                </a:solidFill>
              </a:rPr>
              <a:t>Missing cells (0.000%)</a:t>
            </a:r>
            <a:endParaRPr lang="en-US" sz="1200" dirty="0"/>
          </a:p>
        </p:txBody>
      </p:sp>
      <p:sp>
        <p:nvSpPr>
          <p:cNvPr id="12" name="Stat card Exact duplicate rows"/>
          <p:cNvSpPr/>
          <p:nvPr/>
        </p:nvSpPr>
        <p:spPr>
          <a:xfrm>
            <a:off x="6766560" y="1097280"/>
            <a:ext cx="1920240" cy="1234440"/>
          </a:xfrm>
          <a:prstGeom prst="roundRect">
            <a:avLst>
              <a:gd name="adj" fmla="val 8889"/>
            </a:avLst>
          </a:prstGeom>
          <a:solidFill>
            <a:schemeClr val="bg2"/>
          </a:solidFill>
          <a:ln/>
        </p:spPr>
      </p:sp>
      <p:sp>
        <p:nvSpPr>
          <p:cNvPr id="13" name="Stat value Exact duplicate rows"/>
          <p:cNvSpPr txBox="1"/>
          <p:nvPr/>
        </p:nvSpPr>
        <p:spPr>
          <a:xfrm>
            <a:off x="6766560" y="1188720"/>
            <a:ext cx="1920240" cy="640080"/>
          </a:xfrm>
          <a:prstGeom prst="rect">
            <a:avLst/>
          </a:prstGeom>
          <a:noFill/>
          <a:ln/>
        </p:spPr>
        <p:txBody>
          <a:bodyPr wrap="square" lIns="0" tIns="0" rIns="0" bIns="0" rtlCol="0" anchor="ctr"/>
          <a:lstStyle/>
          <a:p>
            <a:pPr algn="ctr" indent="0" marL="0">
              <a:buNone/>
            </a:pPr>
            <a:r>
              <a:rPr lang="en-US" sz="3400" b="1" dirty="0">
                <a:solidFill>
                  <a:schemeClr val="tx1"/>
                </a:solidFill>
              </a:rPr>
              <a:t>0</a:t>
            </a:r>
            <a:endParaRPr lang="en-US" sz="3400" dirty="0"/>
          </a:p>
        </p:txBody>
      </p:sp>
      <p:sp>
        <p:nvSpPr>
          <p:cNvPr id="14" name="Stat label Exact duplicate rows"/>
          <p:cNvSpPr txBox="1"/>
          <p:nvPr/>
        </p:nvSpPr>
        <p:spPr>
          <a:xfrm>
            <a:off x="6766560" y="1828800"/>
            <a:ext cx="1920240" cy="365760"/>
          </a:xfrm>
          <a:prstGeom prst="rect">
            <a:avLst/>
          </a:prstGeom>
          <a:noFill/>
          <a:ln/>
        </p:spPr>
        <p:txBody>
          <a:bodyPr wrap="square" lIns="0" tIns="0" rIns="0" bIns="0" rtlCol="0" anchor="ctr"/>
          <a:lstStyle/>
          <a:p>
            <a:pPr algn="ctr" indent="0" marL="0">
              <a:buNone/>
            </a:pPr>
            <a:r>
              <a:rPr lang="en-US" sz="1200" dirty="0">
                <a:solidFill>
                  <a:schemeClr val="accent6"/>
                </a:solidFill>
              </a:rPr>
              <a:t>Exact duplicate rows</a:t>
            </a:r>
            <a:endParaRPr lang="en-US" sz="1200" dirty="0"/>
          </a:p>
        </p:txBody>
      </p:sp>
      <p:sp>
        <p:nvSpPr>
          <p:cNvPr id="15" name="Contents card"/>
          <p:cNvSpPr/>
          <p:nvPr/>
        </p:nvSpPr>
        <p:spPr>
          <a:xfrm>
            <a:off x="457200" y="2560320"/>
            <a:ext cx="4023360" cy="1920240"/>
          </a:xfrm>
          <a:prstGeom prst="roundRect">
            <a:avLst>
              <a:gd name="adj" fmla="val 5714"/>
            </a:avLst>
          </a:prstGeom>
          <a:solidFill>
            <a:schemeClr val="bg2"/>
          </a:solidFill>
          <a:ln/>
        </p:spPr>
      </p:sp>
      <p:sp>
        <p:nvSpPr>
          <p:cNvPr id="16" name="Contents text"/>
          <p:cNvSpPr txBox="1"/>
          <p:nvPr/>
        </p:nvSpPr>
        <p:spPr>
          <a:xfrm>
            <a:off x="640080" y="2651760"/>
            <a:ext cx="3657600" cy="1737360"/>
          </a:xfrm>
          <a:prstGeom prst="rect">
            <a:avLst/>
          </a:prstGeom>
          <a:noFill/>
          <a:ln/>
        </p:spPr>
        <p:txBody>
          <a:bodyPr wrap="square" lIns="0" tIns="0" rIns="0" bIns="0" rtlCol="0" anchor="t"/>
          <a:lstStyle/>
          <a:p>
            <a:pPr indent="0" marL="0">
              <a:spcAft>
                <a:spcPts val="600"/>
              </a:spcAft>
              <a:buNone/>
            </a:pPr>
            <a:r>
              <a:rPr lang="en-US" sz="1600" b="1" dirty="0">
                <a:solidFill>
                  <a:schemeClr val="tx1"/>
                </a:solidFill>
              </a:rPr>
              <a:t>What the file contains</a:t>
            </a:r>
            <a:endParaRPr lang="en-US" sz="1400" dirty="0"/>
          </a:p>
          <a:p>
            <a:pPr marL="342900" indent="-342900">
              <a:spcAft>
                <a:spcPts val="300"/>
              </a:spcAft>
              <a:buSzPct val="100000"/>
              <a:buChar char="•"/>
            </a:pPr>
            <a:r>
              <a:rPr lang="en-US" sz="1400" dirty="0">
                <a:solidFill>
                  <a:schemeClr val="tx1"/>
                </a:solidFill>
              </a:rPr>
              <a:t>Order dates: 01 Jan 2024 to 26 Sep 2026</a:t>
            </a:r>
            <a:endParaRPr lang="en-US" sz="1400" dirty="0"/>
          </a:p>
          <a:p>
            <a:pPr marL="342900" indent="-342900">
              <a:spcAft>
                <a:spcPts val="300"/>
              </a:spcAft>
              <a:buSzPct val="100000"/>
              <a:buChar char="•"/>
            </a:pPr>
            <a:r>
              <a:rPr lang="en-US" sz="1400" dirty="0">
                <a:solidFill>
                  <a:schemeClr val="tx1"/>
                </a:solidFill>
              </a:rPr>
              <a:t>7 countries, 10 industries, 5 product categories</a:t>
            </a:r>
            <a:endParaRPr lang="en-US" sz="1400" dirty="0"/>
          </a:p>
          <a:p>
            <a:pPr marL="342900" indent="-342900">
              <a:spcAft>
                <a:spcPts val="300"/>
              </a:spcAft>
              <a:buSzPct val="100000"/>
              <a:buChar char="•"/>
            </a:pPr>
            <a:r>
              <a:rPr lang="en-US" sz="1400" dirty="0">
                <a:solidFill>
                  <a:schemeClr val="tx1"/>
                </a:solidFill>
              </a:rPr>
              <a:t>File size: about 28.9 MB</a:t>
            </a:r>
            <a:endParaRPr lang="en-US" sz="1400" dirty="0"/>
          </a:p>
          <a:p>
            <a:pPr marL="342900" indent="-342900">
              <a:spcAft>
                <a:spcPts val="300"/>
              </a:spcAft>
              <a:buSzPct val="100000"/>
              <a:buChar char="•"/>
            </a:pPr>
            <a:r>
              <a:rPr lang="en-US" sz="1400" dirty="0">
                <a:solidFill>
                  <a:schemeClr val="tx1"/>
                </a:solidFill>
              </a:rPr>
              <a:t>0 duplicate transaction IDs</a:t>
            </a:r>
            <a:endParaRPr lang="en-US" sz="1400" dirty="0"/>
          </a:p>
        </p:txBody>
      </p:sp>
      <p:sp>
        <p:nvSpPr>
          <p:cNvPr id="17" name="Warning card"/>
          <p:cNvSpPr/>
          <p:nvPr/>
        </p:nvSpPr>
        <p:spPr>
          <a:xfrm>
            <a:off x="4663440" y="2560320"/>
            <a:ext cx="4023360" cy="1920240"/>
          </a:xfrm>
          <a:prstGeom prst="roundRect">
            <a:avLst>
              <a:gd name="adj" fmla="val 5714"/>
            </a:avLst>
          </a:prstGeom>
          <a:solidFill>
            <a:schemeClr val="accent2">
              <a:alpha val="20000"/>
            </a:schemeClr>
          </a:solidFill>
          <a:ln/>
        </p:spPr>
      </p:sp>
      <p:sp>
        <p:nvSpPr>
          <p:cNvPr id="18" name="Warning text"/>
          <p:cNvSpPr txBox="1"/>
          <p:nvPr/>
        </p:nvSpPr>
        <p:spPr>
          <a:xfrm>
            <a:off x="4846320" y="2651760"/>
            <a:ext cx="3657600" cy="1737360"/>
          </a:xfrm>
          <a:prstGeom prst="rect">
            <a:avLst/>
          </a:prstGeom>
          <a:noFill/>
          <a:ln/>
        </p:spPr>
        <p:txBody>
          <a:bodyPr wrap="square" lIns="0" tIns="0" rIns="0" bIns="0" rtlCol="0" anchor="t"/>
          <a:lstStyle/>
          <a:p>
            <a:pPr indent="0" marL="0">
              <a:spcAft>
                <a:spcPts val="600"/>
              </a:spcAft>
              <a:buNone/>
            </a:pPr>
            <a:r>
              <a:rPr lang="en-US" sz="1600" b="1" dirty="0">
                <a:solidFill>
                  <a:schemeClr val="tx1"/>
                </a:solidFill>
              </a:rPr>
              <a:t>Synthetic-data warning</a:t>
            </a:r>
            <a:endParaRPr lang="en-US" sz="1600" dirty="0"/>
          </a:p>
          <a:p>
            <a:pPr indent="0" marL="0">
              <a:buNone/>
            </a:pPr>
            <a:r>
              <a:rPr lang="en-US" sz="1400" dirty="0">
                <a:solidFill>
                  <a:schemeClr val="tx1"/>
                </a:solidFill>
              </a:rPr>
              <a:t>Records are labelled as synthetic transactions, not actual sales. Revenue, cost and profit are arithmetic summaries of illustrative data, not real market size.</a:t>
            </a:r>
            <a:endParaRPr lang="en-US" sz="16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End-to-End Methodology</a:t>
            </a:r>
            <a:endParaRPr lang="en-US" sz="2800" dirty="0"/>
          </a:p>
        </p:txBody>
      </p:sp>
      <p:sp>
        <p:nvSpPr>
          <p:cNvPr id="3" name="Step card 1"/>
          <p:cNvSpPr/>
          <p:nvPr/>
        </p:nvSpPr>
        <p:spPr>
          <a:xfrm>
            <a:off x="457200" y="1097280"/>
            <a:ext cx="2624328" cy="1371600"/>
          </a:xfrm>
          <a:prstGeom prst="roundRect">
            <a:avLst>
              <a:gd name="adj" fmla="val 8000"/>
            </a:avLst>
          </a:prstGeom>
          <a:solidFill>
            <a:schemeClr val="bg2"/>
          </a:solidFill>
          <a:ln/>
        </p:spPr>
      </p:sp>
      <p:sp>
        <p:nvSpPr>
          <p:cNvPr id="4" name="Step number 1"/>
          <p:cNvSpPr/>
          <p:nvPr/>
        </p:nvSpPr>
        <p:spPr>
          <a:xfrm>
            <a:off x="640080" y="1261872"/>
            <a:ext cx="365760" cy="36576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5" name="Step title 1"/>
          <p:cNvSpPr txBox="1"/>
          <p:nvPr/>
        </p:nvSpPr>
        <p:spPr>
          <a:xfrm>
            <a:off x="1143000" y="1261872"/>
            <a:ext cx="1828800" cy="365760"/>
          </a:xfrm>
          <a:prstGeom prst="rect">
            <a:avLst/>
          </a:prstGeom>
          <a:noFill/>
          <a:ln/>
        </p:spPr>
        <p:txBody>
          <a:bodyPr wrap="square" lIns="0" tIns="0" rIns="0" bIns="0" rtlCol="0" anchor="ctr"/>
          <a:lstStyle/>
          <a:p>
            <a:pPr indent="0" marL="0">
              <a:buNone/>
            </a:pPr>
            <a:r>
              <a:rPr lang="en-US" sz="1600" b="1" dirty="0">
                <a:solidFill>
                  <a:schemeClr val="tx1"/>
                </a:solidFill>
              </a:rPr>
              <a:t>Raw data</a:t>
            </a:r>
            <a:endParaRPr lang="en-US" sz="1600" dirty="0"/>
          </a:p>
        </p:txBody>
      </p:sp>
      <p:sp>
        <p:nvSpPr>
          <p:cNvPr id="6" name="Step text 1"/>
          <p:cNvSpPr txBox="1"/>
          <p:nvPr/>
        </p:nvSpPr>
        <p:spPr>
          <a:xfrm>
            <a:off x="640080" y="1737360"/>
            <a:ext cx="2286000" cy="640080"/>
          </a:xfrm>
          <a:prstGeom prst="rect">
            <a:avLst/>
          </a:prstGeom>
          <a:noFill/>
          <a:ln/>
        </p:spPr>
        <p:txBody>
          <a:bodyPr wrap="square" lIns="0" tIns="0" rIns="0" bIns="0" rtlCol="0" anchor="t"/>
          <a:lstStyle/>
          <a:p>
            <a:pPr indent="0" marL="0">
              <a:buNone/>
            </a:pPr>
            <a:r>
              <a:rPr lang="en-US" sz="1400" dirty="0">
                <a:solidFill>
                  <a:schemeClr val="tx1"/>
                </a:solidFill>
              </a:rPr>
              <a:t>Preserve the original CSV unchanged</a:t>
            </a:r>
            <a:endParaRPr lang="en-US" sz="1400" dirty="0"/>
          </a:p>
        </p:txBody>
      </p:sp>
      <p:sp>
        <p:nvSpPr>
          <p:cNvPr id="7" name="Step card 2"/>
          <p:cNvSpPr/>
          <p:nvPr/>
        </p:nvSpPr>
        <p:spPr>
          <a:xfrm>
            <a:off x="3259836" y="1097280"/>
            <a:ext cx="2624328" cy="1371600"/>
          </a:xfrm>
          <a:prstGeom prst="roundRect">
            <a:avLst>
              <a:gd name="adj" fmla="val 8000"/>
            </a:avLst>
          </a:prstGeom>
          <a:solidFill>
            <a:schemeClr val="bg2"/>
          </a:solidFill>
          <a:ln/>
        </p:spPr>
      </p:sp>
      <p:sp>
        <p:nvSpPr>
          <p:cNvPr id="8" name="Step number 2"/>
          <p:cNvSpPr/>
          <p:nvPr/>
        </p:nvSpPr>
        <p:spPr>
          <a:xfrm>
            <a:off x="3442716" y="1261872"/>
            <a:ext cx="365760" cy="36576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9" name="Step title 2"/>
          <p:cNvSpPr txBox="1"/>
          <p:nvPr/>
        </p:nvSpPr>
        <p:spPr>
          <a:xfrm>
            <a:off x="3945636" y="1261872"/>
            <a:ext cx="1828800" cy="365760"/>
          </a:xfrm>
          <a:prstGeom prst="rect">
            <a:avLst/>
          </a:prstGeom>
          <a:noFill/>
          <a:ln/>
        </p:spPr>
        <p:txBody>
          <a:bodyPr wrap="square" lIns="0" tIns="0" rIns="0" bIns="0" rtlCol="0" anchor="ctr"/>
          <a:lstStyle/>
          <a:p>
            <a:pPr indent="0" marL="0">
              <a:buNone/>
            </a:pPr>
            <a:r>
              <a:rPr lang="en-US" sz="1600" b="1" dirty="0">
                <a:solidFill>
                  <a:schemeClr val="tx1"/>
                </a:solidFill>
              </a:rPr>
              <a:t>Profiling</a:t>
            </a:r>
            <a:endParaRPr lang="en-US" sz="1600" dirty="0"/>
          </a:p>
        </p:txBody>
      </p:sp>
      <p:sp>
        <p:nvSpPr>
          <p:cNvPr id="10" name="Step text 2"/>
          <p:cNvSpPr txBox="1"/>
          <p:nvPr/>
        </p:nvSpPr>
        <p:spPr>
          <a:xfrm>
            <a:off x="3442716" y="1737360"/>
            <a:ext cx="2286000" cy="640080"/>
          </a:xfrm>
          <a:prstGeom prst="rect">
            <a:avLst/>
          </a:prstGeom>
          <a:noFill/>
          <a:ln/>
        </p:spPr>
        <p:txBody>
          <a:bodyPr wrap="square" lIns="0" tIns="0" rIns="0" bIns="0" rtlCol="0" anchor="t"/>
          <a:lstStyle/>
          <a:p>
            <a:pPr indent="0" marL="0">
              <a:buNone/>
            </a:pPr>
            <a:r>
              <a:rPr lang="en-US" sz="1400" dirty="0">
                <a:solidFill>
                  <a:schemeClr val="tx1"/>
                </a:solidFill>
              </a:rPr>
              <a:t>Check schema, missing cells and duplicates</a:t>
            </a:r>
            <a:endParaRPr lang="en-US" sz="1400" dirty="0"/>
          </a:p>
        </p:txBody>
      </p:sp>
      <p:sp>
        <p:nvSpPr>
          <p:cNvPr id="11" name="Step card 3"/>
          <p:cNvSpPr/>
          <p:nvPr/>
        </p:nvSpPr>
        <p:spPr>
          <a:xfrm>
            <a:off x="6062472" y="1097280"/>
            <a:ext cx="2624328" cy="1371600"/>
          </a:xfrm>
          <a:prstGeom prst="roundRect">
            <a:avLst>
              <a:gd name="adj" fmla="val 8000"/>
            </a:avLst>
          </a:prstGeom>
          <a:solidFill>
            <a:schemeClr val="bg2"/>
          </a:solidFill>
          <a:ln/>
        </p:spPr>
      </p:sp>
      <p:sp>
        <p:nvSpPr>
          <p:cNvPr id="12" name="Step number 3"/>
          <p:cNvSpPr/>
          <p:nvPr/>
        </p:nvSpPr>
        <p:spPr>
          <a:xfrm>
            <a:off x="6245352" y="1261872"/>
            <a:ext cx="365760" cy="36576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13" name="Step title 3"/>
          <p:cNvSpPr txBox="1"/>
          <p:nvPr/>
        </p:nvSpPr>
        <p:spPr>
          <a:xfrm>
            <a:off x="6748272" y="1261872"/>
            <a:ext cx="1828800" cy="365760"/>
          </a:xfrm>
          <a:prstGeom prst="rect">
            <a:avLst/>
          </a:prstGeom>
          <a:noFill/>
          <a:ln/>
        </p:spPr>
        <p:txBody>
          <a:bodyPr wrap="square" lIns="0" tIns="0" rIns="0" bIns="0" rtlCol="0" anchor="ctr"/>
          <a:lstStyle/>
          <a:p>
            <a:pPr indent="0" marL="0">
              <a:buNone/>
            </a:pPr>
            <a:r>
              <a:rPr lang="en-US" sz="1600" b="1" dirty="0">
                <a:solidFill>
                  <a:schemeClr val="tx1"/>
                </a:solidFill>
              </a:rPr>
              <a:t>PostgreSQL</a:t>
            </a:r>
            <a:endParaRPr lang="en-US" sz="1600" dirty="0"/>
          </a:p>
        </p:txBody>
      </p:sp>
      <p:sp>
        <p:nvSpPr>
          <p:cNvPr id="14" name="Step text 3"/>
          <p:cNvSpPr txBox="1"/>
          <p:nvPr/>
        </p:nvSpPr>
        <p:spPr>
          <a:xfrm>
            <a:off x="6245352" y="1737360"/>
            <a:ext cx="2286000" cy="640080"/>
          </a:xfrm>
          <a:prstGeom prst="rect">
            <a:avLst/>
          </a:prstGeom>
          <a:noFill/>
          <a:ln/>
        </p:spPr>
        <p:txBody>
          <a:bodyPr wrap="square" lIns="0" tIns="0" rIns="0" bIns="0" rtlCol="0" anchor="t"/>
          <a:lstStyle/>
          <a:p>
            <a:pPr indent="0" marL="0">
              <a:buNone/>
            </a:pPr>
            <a:r>
              <a:rPr lang="en-US" sz="1400" dirty="0">
                <a:solidFill>
                  <a:schemeClr val="tx1"/>
                </a:solidFill>
              </a:rPr>
              <a:t>Store the data and run SQL queries in DBeaver</a:t>
            </a:r>
            <a:endParaRPr lang="en-US" sz="1400" dirty="0"/>
          </a:p>
        </p:txBody>
      </p:sp>
      <p:sp>
        <p:nvSpPr>
          <p:cNvPr id="15" name="Step card 4"/>
          <p:cNvSpPr/>
          <p:nvPr/>
        </p:nvSpPr>
        <p:spPr>
          <a:xfrm>
            <a:off x="457200" y="2606040"/>
            <a:ext cx="2624328" cy="1371600"/>
          </a:xfrm>
          <a:prstGeom prst="roundRect">
            <a:avLst>
              <a:gd name="adj" fmla="val 8000"/>
            </a:avLst>
          </a:prstGeom>
          <a:solidFill>
            <a:schemeClr val="bg2"/>
          </a:solidFill>
          <a:ln/>
        </p:spPr>
      </p:sp>
      <p:sp>
        <p:nvSpPr>
          <p:cNvPr id="16" name="Step number 4"/>
          <p:cNvSpPr/>
          <p:nvPr/>
        </p:nvSpPr>
        <p:spPr>
          <a:xfrm>
            <a:off x="640080" y="2770632"/>
            <a:ext cx="365760" cy="36576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17" name="Step title 4"/>
          <p:cNvSpPr txBox="1"/>
          <p:nvPr/>
        </p:nvSpPr>
        <p:spPr>
          <a:xfrm>
            <a:off x="1143000" y="2770632"/>
            <a:ext cx="1828800" cy="365760"/>
          </a:xfrm>
          <a:prstGeom prst="rect">
            <a:avLst/>
          </a:prstGeom>
          <a:noFill/>
          <a:ln/>
        </p:spPr>
        <p:txBody>
          <a:bodyPr wrap="square" lIns="0" tIns="0" rIns="0" bIns="0" rtlCol="0" anchor="ctr"/>
          <a:lstStyle/>
          <a:p>
            <a:pPr indent="0" marL="0">
              <a:buNone/>
            </a:pPr>
            <a:r>
              <a:rPr lang="en-US" sz="1600" b="1" dirty="0">
                <a:solidFill>
                  <a:schemeClr val="tx1"/>
                </a:solidFill>
              </a:rPr>
              <a:t>Python</a:t>
            </a:r>
            <a:endParaRPr lang="en-US" sz="1600" dirty="0"/>
          </a:p>
        </p:txBody>
      </p:sp>
      <p:sp>
        <p:nvSpPr>
          <p:cNvPr id="18" name="Step text 4"/>
          <p:cNvSpPr txBox="1"/>
          <p:nvPr/>
        </p:nvSpPr>
        <p:spPr>
          <a:xfrm>
            <a:off x="640080" y="3246120"/>
            <a:ext cx="2286000" cy="640080"/>
          </a:xfrm>
          <a:prstGeom prst="rect">
            <a:avLst/>
          </a:prstGeom>
          <a:noFill/>
          <a:ln/>
        </p:spPr>
        <p:txBody>
          <a:bodyPr wrap="square" lIns="0" tIns="0" rIns="0" bIns="0" rtlCol="0" anchor="t"/>
          <a:lstStyle/>
          <a:p>
            <a:pPr indent="0" marL="0">
              <a:buNone/>
            </a:pPr>
            <a:r>
              <a:rPr lang="en-US" sz="1400" dirty="0">
                <a:solidFill>
                  <a:schemeClr val="tx1"/>
                </a:solidFill>
              </a:rPr>
              <a:t>Clean, explore and chart the data</a:t>
            </a:r>
            <a:endParaRPr lang="en-US" sz="1400" dirty="0"/>
          </a:p>
        </p:txBody>
      </p:sp>
      <p:sp>
        <p:nvSpPr>
          <p:cNvPr id="19" name="Step card 5"/>
          <p:cNvSpPr/>
          <p:nvPr/>
        </p:nvSpPr>
        <p:spPr>
          <a:xfrm>
            <a:off x="3259836" y="2606040"/>
            <a:ext cx="2624328" cy="1371600"/>
          </a:xfrm>
          <a:prstGeom prst="roundRect">
            <a:avLst>
              <a:gd name="adj" fmla="val 8000"/>
            </a:avLst>
          </a:prstGeom>
          <a:solidFill>
            <a:schemeClr val="bg2"/>
          </a:solidFill>
          <a:ln/>
        </p:spPr>
      </p:sp>
      <p:sp>
        <p:nvSpPr>
          <p:cNvPr id="20" name="Step number 5"/>
          <p:cNvSpPr/>
          <p:nvPr/>
        </p:nvSpPr>
        <p:spPr>
          <a:xfrm>
            <a:off x="3442716" y="2770632"/>
            <a:ext cx="365760" cy="36576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tx1"/>
                </a:solidFill>
              </a:rPr>
              <a:t>5</a:t>
            </a:r>
            <a:endParaRPr lang="en-US" sz="1400" dirty="0"/>
          </a:p>
        </p:txBody>
      </p:sp>
      <p:sp>
        <p:nvSpPr>
          <p:cNvPr id="21" name="Step title 5"/>
          <p:cNvSpPr txBox="1"/>
          <p:nvPr/>
        </p:nvSpPr>
        <p:spPr>
          <a:xfrm>
            <a:off x="3945636" y="2770632"/>
            <a:ext cx="1828800" cy="365760"/>
          </a:xfrm>
          <a:prstGeom prst="rect">
            <a:avLst/>
          </a:prstGeom>
          <a:noFill/>
          <a:ln/>
        </p:spPr>
        <p:txBody>
          <a:bodyPr wrap="square" lIns="0" tIns="0" rIns="0" bIns="0" rtlCol="0" anchor="ctr"/>
          <a:lstStyle/>
          <a:p>
            <a:pPr indent="0" marL="0">
              <a:buNone/>
            </a:pPr>
            <a:r>
              <a:rPr lang="en-US" sz="1600" b="1" dirty="0">
                <a:solidFill>
                  <a:schemeClr val="tx1"/>
                </a:solidFill>
              </a:rPr>
              <a:t>Databricks + Delta</a:t>
            </a:r>
            <a:endParaRPr lang="en-US" sz="1600" dirty="0"/>
          </a:p>
        </p:txBody>
      </p:sp>
      <p:sp>
        <p:nvSpPr>
          <p:cNvPr id="22" name="Step text 5"/>
          <p:cNvSpPr txBox="1"/>
          <p:nvPr/>
        </p:nvSpPr>
        <p:spPr>
          <a:xfrm>
            <a:off x="3442716" y="3246120"/>
            <a:ext cx="2286000" cy="640080"/>
          </a:xfrm>
          <a:prstGeom prst="rect">
            <a:avLst/>
          </a:prstGeom>
          <a:noFill/>
          <a:ln/>
        </p:spPr>
        <p:txBody>
          <a:bodyPr wrap="square" lIns="0" tIns="0" rIns="0" bIns="0" rtlCol="0" anchor="t"/>
          <a:lstStyle/>
          <a:p>
            <a:pPr indent="0" marL="0">
              <a:buNone/>
            </a:pPr>
            <a:r>
              <a:rPr lang="en-US" sz="1400" dirty="0">
                <a:solidFill>
                  <a:schemeClr val="tx1"/>
                </a:solidFill>
              </a:rPr>
              <a:t>Spark processing in Bronze, Silver, Gold</a:t>
            </a:r>
            <a:endParaRPr lang="en-US" sz="1400" dirty="0"/>
          </a:p>
        </p:txBody>
      </p:sp>
      <p:sp>
        <p:nvSpPr>
          <p:cNvPr id="23" name="Step card 6"/>
          <p:cNvSpPr/>
          <p:nvPr/>
        </p:nvSpPr>
        <p:spPr>
          <a:xfrm>
            <a:off x="6062472" y="2606040"/>
            <a:ext cx="2624328" cy="1371600"/>
          </a:xfrm>
          <a:prstGeom prst="roundRect">
            <a:avLst>
              <a:gd name="adj" fmla="val 8000"/>
            </a:avLst>
          </a:prstGeom>
          <a:solidFill>
            <a:schemeClr val="bg2"/>
          </a:solidFill>
          <a:ln/>
        </p:spPr>
      </p:sp>
      <p:sp>
        <p:nvSpPr>
          <p:cNvPr id="24" name="Step number 6"/>
          <p:cNvSpPr/>
          <p:nvPr/>
        </p:nvSpPr>
        <p:spPr>
          <a:xfrm>
            <a:off x="6245352" y="2770632"/>
            <a:ext cx="365760" cy="36576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tx1"/>
                </a:solidFill>
              </a:rPr>
              <a:t>6</a:t>
            </a:r>
            <a:endParaRPr lang="en-US" sz="1400" dirty="0"/>
          </a:p>
        </p:txBody>
      </p:sp>
      <p:sp>
        <p:nvSpPr>
          <p:cNvPr id="25" name="Step title 6"/>
          <p:cNvSpPr txBox="1"/>
          <p:nvPr/>
        </p:nvSpPr>
        <p:spPr>
          <a:xfrm>
            <a:off x="6748272" y="2770632"/>
            <a:ext cx="1828800" cy="365760"/>
          </a:xfrm>
          <a:prstGeom prst="rect">
            <a:avLst/>
          </a:prstGeom>
          <a:noFill/>
          <a:ln/>
        </p:spPr>
        <p:txBody>
          <a:bodyPr wrap="square" lIns="0" tIns="0" rIns="0" bIns="0" rtlCol="0" anchor="ctr"/>
          <a:lstStyle/>
          <a:p>
            <a:pPr indent="0" marL="0">
              <a:buNone/>
            </a:pPr>
            <a:r>
              <a:rPr lang="en-US" sz="1600" b="1" dirty="0">
                <a:solidFill>
                  <a:schemeClr val="tx1"/>
                </a:solidFill>
              </a:rPr>
              <a:t>Power BI</a:t>
            </a:r>
            <a:endParaRPr lang="en-US" sz="1600" dirty="0"/>
          </a:p>
        </p:txBody>
      </p:sp>
      <p:sp>
        <p:nvSpPr>
          <p:cNvPr id="26" name="Step text 6"/>
          <p:cNvSpPr txBox="1"/>
          <p:nvPr/>
        </p:nvSpPr>
        <p:spPr>
          <a:xfrm>
            <a:off x="6245352" y="3246120"/>
            <a:ext cx="2286000" cy="640080"/>
          </a:xfrm>
          <a:prstGeom prst="rect">
            <a:avLst/>
          </a:prstGeom>
          <a:noFill/>
          <a:ln/>
        </p:spPr>
        <p:txBody>
          <a:bodyPr wrap="square" lIns="0" tIns="0" rIns="0" bIns="0" rtlCol="0" anchor="t"/>
          <a:lstStyle/>
          <a:p>
            <a:pPr indent="0" marL="0">
              <a:buNone/>
            </a:pPr>
            <a:r>
              <a:rPr lang="en-US" sz="1400" dirty="0">
                <a:solidFill>
                  <a:schemeClr val="tx1"/>
                </a:solidFill>
              </a:rPr>
              <a:t>KPIs, visuals and slicers for managers</a:t>
            </a:r>
            <a:endParaRPr lang="en-US" sz="1400" dirty="0"/>
          </a:p>
        </p:txBody>
      </p:sp>
      <p:sp>
        <p:nvSpPr>
          <p:cNvPr id="27" name="Validation banner"/>
          <p:cNvSpPr/>
          <p:nvPr/>
        </p:nvSpPr>
        <p:spPr>
          <a:xfrm>
            <a:off x="457200" y="4114800"/>
            <a:ext cx="8229600" cy="457200"/>
          </a:xfrm>
          <a:prstGeom prst="roundRect">
            <a:avLst>
              <a:gd name="adj" fmla="val 20000"/>
            </a:avLst>
          </a:prstGeom>
          <a:solidFill>
            <a:schemeClr val="tx2"/>
          </a:solidFill>
          <a:ln/>
        </p:spPr>
        <p:txBody>
          <a:bodyPr wrap="square" lIns="0" tIns="0" rIns="0" bIns="0" rtlCol="0" anchor="ctr"/>
          <a:lstStyle/>
          <a:p>
            <a:pPr algn="ctr" indent="0" marL="0">
              <a:buNone/>
            </a:pPr>
            <a:r>
              <a:rPr lang="en-US" sz="1400" b="1" dirty="0">
                <a:solidFill>
                  <a:schemeClr val="bg1"/>
                </a:solidFill>
              </a:rPr>
              <a:t>Same definitions in SQL, Python, Spark and Power BI, then reconcile the totals</a:t>
            </a:r>
            <a:endParaRPr lang="en-US" sz="14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How Big Data Solved the Problem</a:t>
            </a:r>
            <a:endParaRPr lang="en-US" sz="2800" dirty="0"/>
          </a:p>
        </p:txBody>
      </p:sp>
      <p:graphicFrame>
        <p:nvGraphicFramePr>
          <p:cNvPr id="8" name="Challenge to outcome table"/>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2743200"/>
                <a:gridCol w="2743200"/>
                <a:gridCol w="2743200"/>
              </a:tblGrid>
              <a:tr h="365760">
                <a:tc>
                  <a:txBody>
                    <a:bodyPr/>
                    <a:lstStyle/>
                    <a:p>
                      <a:pPr indent="0" marL="0">
                        <a:buNone/>
                      </a:pPr>
                      <a:r>
                        <a:rPr lang="en-US" sz="1400" b="1" dirty="0">
                          <a:solidFill>
                            <a:srgbClr val="FFFFFF"/>
                          </a:solidFill>
                        </a:rPr>
                        <a:t>Challenge</a:t>
                      </a:r>
                      <a:endParaRPr lang="en-US" sz="1400" dirty="0"/>
                    </a:p>
                  </a:txBody>
                  <a:tcPr marL="91440" marR="91440" marT="0" marB="0" anchor="ctr">
                    <a:lnL w="12700" cap="flat" cmpd="sng" algn="ctr">
                      <a:solidFill>
                        <a:srgbClr val="DDE6EF"/>
                      </a:solidFill>
                      <a:prstDash val="solid"/>
                      <a:round/>
                      <a:headEnd type="none" w="med" len="med"/>
                      <a:tailEnd type="none" w="med" len="med"/>
                    </a:lnL>
                    <a:lnR w="12700" cap="flat" cmpd="sng" algn="ctr">
                      <a:solidFill>
                        <a:srgbClr val="DDE6EF"/>
                      </a:solidFill>
                      <a:prstDash val="solid"/>
                      <a:round/>
                      <a:headEnd type="none" w="med" len="med"/>
                      <a:tailEnd type="none" w="med" len="med"/>
                    </a:lnR>
                    <a:lnT w="12700" cap="flat" cmpd="sng" algn="ctr">
                      <a:solidFill>
                        <a:srgbClr val="DDE6EF"/>
                      </a:solidFill>
                      <a:prstDash val="solid"/>
                      <a:round/>
                      <a:headEnd type="none" w="med" len="med"/>
                      <a:tailEnd type="none" w="med" len="med"/>
                    </a:lnT>
                    <a:lnB w="12700" cap="flat" cmpd="sng" algn="ctr">
                      <a:solidFill>
                        <a:srgbClr val="DDE6EF"/>
                      </a:solidFill>
                      <a:prstDash val="solid"/>
                      <a:round/>
                      <a:headEnd type="none" w="med" len="med"/>
                      <a:tailEnd type="none" w="med" len="med"/>
                    </a:lnB>
                    <a:solidFill>
                      <a:srgbClr val="0B1F3A"/>
                    </a:solidFill>
                  </a:tcPr>
                </a:tc>
                <a:tc>
                  <a:txBody>
                    <a:bodyPr/>
                    <a:lstStyle/>
                    <a:p>
                      <a:pPr indent="0" marL="0">
                        <a:buNone/>
                      </a:pPr>
                      <a:r>
                        <a:rPr lang="en-US" sz="1400" b="1" dirty="0">
                          <a:solidFill>
                            <a:srgbClr val="FFFFFF"/>
                          </a:solidFill>
                        </a:rPr>
                        <a:t>Big Data / DBMS approach</a:t>
                      </a:r>
                      <a:endParaRPr lang="en-US" sz="1400" dirty="0"/>
                    </a:p>
                  </a:txBody>
                  <a:tcPr marL="91440" marR="91440" marT="0" marB="0" anchor="ctr">
                    <a:lnL w="12700" cap="flat" cmpd="sng" algn="ctr">
                      <a:solidFill>
                        <a:srgbClr val="DDE6EF"/>
                      </a:solidFill>
                      <a:prstDash val="solid"/>
                      <a:round/>
                      <a:headEnd type="none" w="med" len="med"/>
                      <a:tailEnd type="none" w="med" len="med"/>
                    </a:lnL>
                    <a:lnR w="12700" cap="flat" cmpd="sng" algn="ctr">
                      <a:solidFill>
                        <a:srgbClr val="DDE6EF"/>
                      </a:solidFill>
                      <a:prstDash val="solid"/>
                      <a:round/>
                      <a:headEnd type="none" w="med" len="med"/>
                      <a:tailEnd type="none" w="med" len="med"/>
                    </a:lnR>
                    <a:lnT w="12700" cap="flat" cmpd="sng" algn="ctr">
                      <a:solidFill>
                        <a:srgbClr val="DDE6EF"/>
                      </a:solidFill>
                      <a:prstDash val="solid"/>
                      <a:round/>
                      <a:headEnd type="none" w="med" len="med"/>
                      <a:tailEnd type="none" w="med" len="med"/>
                    </a:lnT>
                    <a:lnB w="12700" cap="flat" cmpd="sng" algn="ctr">
                      <a:solidFill>
                        <a:srgbClr val="DDE6EF"/>
                      </a:solidFill>
                      <a:prstDash val="solid"/>
                      <a:round/>
                      <a:headEnd type="none" w="med" len="med"/>
                      <a:tailEnd type="none" w="med" len="med"/>
                    </a:lnB>
                    <a:solidFill>
                      <a:srgbClr val="0B1F3A"/>
                    </a:solidFill>
                  </a:tcPr>
                </a:tc>
                <a:tc>
                  <a:txBody>
                    <a:bodyPr/>
                    <a:lstStyle/>
                    <a:p>
                      <a:pPr indent="0" marL="0">
                        <a:buNone/>
                      </a:pPr>
                      <a:r>
                        <a:rPr lang="en-US" sz="1400" b="1" dirty="0">
                          <a:solidFill>
                            <a:srgbClr val="FFFFFF"/>
                          </a:solidFill>
                        </a:rPr>
                        <a:t>Outcome</a:t>
                      </a:r>
                      <a:endParaRPr lang="en-US" sz="1400" dirty="0"/>
                    </a:p>
                  </a:txBody>
                  <a:tcPr marL="91440" marR="91440" marT="0" marB="0" anchor="ctr">
                    <a:lnL w="12700" cap="flat" cmpd="sng" algn="ctr">
                      <a:solidFill>
                        <a:srgbClr val="DDE6EF"/>
                      </a:solidFill>
                      <a:prstDash val="solid"/>
                      <a:round/>
                      <a:headEnd type="none" w="med" len="med"/>
                      <a:tailEnd type="none" w="med" len="med"/>
                    </a:lnL>
                    <a:lnR w="12700" cap="flat" cmpd="sng" algn="ctr">
                      <a:solidFill>
                        <a:srgbClr val="DDE6EF"/>
                      </a:solidFill>
                      <a:prstDash val="solid"/>
                      <a:round/>
                      <a:headEnd type="none" w="med" len="med"/>
                      <a:tailEnd type="none" w="med" len="med"/>
                    </a:lnR>
                    <a:lnT w="12700" cap="flat" cmpd="sng" algn="ctr">
                      <a:solidFill>
                        <a:srgbClr val="DDE6EF"/>
                      </a:solidFill>
                      <a:prstDash val="solid"/>
                      <a:round/>
                      <a:headEnd type="none" w="med" len="med"/>
                      <a:tailEnd type="none" w="med" len="med"/>
                    </a:lnT>
                    <a:lnB w="12700" cap="flat" cmpd="sng" algn="ctr">
                      <a:solidFill>
                        <a:srgbClr val="DDE6EF"/>
                      </a:solidFill>
                      <a:prstDash val="solid"/>
                      <a:round/>
                      <a:headEnd type="none" w="med" len="med"/>
                      <a:tailEnd type="none" w="med" len="med"/>
                    </a:lnB>
                    <a:solidFill>
                      <a:srgbClr val="0B1F3A"/>
                    </a:solidFill>
                  </a:tcPr>
                </a:tc>
              </a:tr>
              <a:tr h="658368">
                <a:tc>
                  <a:txBody>
                    <a:bodyPr/>
                    <a:lstStyle/>
                    <a:p>
                      <a:pPr indent="0" marL="0">
                        <a:buNone/>
                      </a:pPr>
                      <a:r>
                        <a:rPr lang="en-US" sz="1400" dirty="0">
                          <a:solidFill>
                            <a:srgbClr val="10233F"/>
                          </a:solidFill>
                        </a:rPr>
                        <a:t>A 35-field file is hard to inspect by hand</a:t>
                      </a:r>
                      <a:endParaRPr lang="en-US" sz="1400" dirty="0"/>
                    </a:p>
                  </a:txBody>
                  <a:tcPr marL="91440" marR="91440" marT="0" marB="0" anchor="ctr">
                    <a:lnL w="12700" cap="flat" cmpd="sng" algn="ctr">
                      <a:solidFill>
                        <a:srgbClr val="DDE6EF"/>
                      </a:solidFill>
                      <a:prstDash val="solid"/>
                      <a:round/>
                      <a:headEnd type="none" w="med" len="med"/>
                      <a:tailEnd type="none" w="med" len="med"/>
                    </a:lnL>
                    <a:lnR w="12700" cap="flat" cmpd="sng" algn="ctr">
                      <a:solidFill>
                        <a:srgbClr val="DDE6EF"/>
                      </a:solidFill>
                      <a:prstDash val="solid"/>
                      <a:round/>
                      <a:headEnd type="none" w="med" len="med"/>
                      <a:tailEnd type="none" w="med" len="med"/>
                    </a:lnR>
                    <a:lnT w="12700" cap="flat" cmpd="sng" algn="ctr">
                      <a:solidFill>
                        <a:srgbClr val="DDE6EF"/>
                      </a:solidFill>
                      <a:prstDash val="solid"/>
                      <a:round/>
                      <a:headEnd type="none" w="med" len="med"/>
                      <a:tailEnd type="none" w="med" len="med"/>
                    </a:lnT>
                    <a:lnB w="12700" cap="flat" cmpd="sng" algn="ctr">
                      <a:solidFill>
                        <a:srgbClr val="DDE6EF"/>
                      </a:solidFill>
                      <a:prstDash val="solid"/>
                      <a:round/>
                      <a:headEnd type="none" w="med" len="med"/>
                      <a:tailEnd type="none" w="med" len="med"/>
                    </a:lnB>
                    <a:solidFill>
                      <a:srgbClr val="EEF3F8"/>
                    </a:solidFill>
                  </a:tcPr>
                </a:tc>
                <a:tc>
                  <a:txBody>
                    <a:bodyPr/>
                    <a:lstStyle/>
                    <a:p>
                      <a:pPr indent="0" marL="0">
                        <a:buNone/>
                      </a:pPr>
                      <a:r>
                        <a:rPr lang="en-US" sz="1400" dirty="0">
                          <a:solidFill>
                            <a:srgbClr val="10233F"/>
                          </a:solidFill>
                        </a:rPr>
                        <a:t>Python profiling and PostgreSQL storage</a:t>
                      </a:r>
                      <a:endParaRPr lang="en-US" sz="1400" dirty="0"/>
                    </a:p>
                  </a:txBody>
                  <a:tcPr marL="91440" marR="91440" marT="0" marB="0" anchor="ctr">
                    <a:lnL w="12700" cap="flat" cmpd="sng" algn="ctr">
                      <a:solidFill>
                        <a:srgbClr val="DDE6EF"/>
                      </a:solidFill>
                      <a:prstDash val="solid"/>
                      <a:round/>
                      <a:headEnd type="none" w="med" len="med"/>
                      <a:tailEnd type="none" w="med" len="med"/>
                    </a:lnL>
                    <a:lnR w="12700" cap="flat" cmpd="sng" algn="ctr">
                      <a:solidFill>
                        <a:srgbClr val="DDE6EF"/>
                      </a:solidFill>
                      <a:prstDash val="solid"/>
                      <a:round/>
                      <a:headEnd type="none" w="med" len="med"/>
                      <a:tailEnd type="none" w="med" len="med"/>
                    </a:lnR>
                    <a:lnT w="12700" cap="flat" cmpd="sng" algn="ctr">
                      <a:solidFill>
                        <a:srgbClr val="DDE6EF"/>
                      </a:solidFill>
                      <a:prstDash val="solid"/>
                      <a:round/>
                      <a:headEnd type="none" w="med" len="med"/>
                      <a:tailEnd type="none" w="med" len="med"/>
                    </a:lnT>
                    <a:lnB w="12700" cap="flat" cmpd="sng" algn="ctr">
                      <a:solidFill>
                        <a:srgbClr val="DDE6EF"/>
                      </a:solidFill>
                      <a:prstDash val="solid"/>
                      <a:round/>
                      <a:headEnd type="none" w="med" len="med"/>
                      <a:tailEnd type="none" w="med" len="med"/>
                    </a:lnB>
                    <a:solidFill>
                      <a:srgbClr val="EEF3F8"/>
                    </a:solidFill>
                  </a:tcPr>
                </a:tc>
                <a:tc>
                  <a:txBody>
                    <a:bodyPr/>
                    <a:lstStyle/>
                    <a:p>
                      <a:pPr indent="0" marL="0">
                        <a:buNone/>
                      </a:pPr>
                      <a:r>
                        <a:rPr lang="en-US" sz="1400" b="1" dirty="0">
                          <a:solidFill>
                            <a:srgbClr val="10233F"/>
                          </a:solidFill>
                        </a:rPr>
                        <a:t>Quality verified: 0 missing, 0 duplicates</a:t>
                      </a:r>
                      <a:endParaRPr lang="en-US" sz="1400" dirty="0"/>
                    </a:p>
                  </a:txBody>
                  <a:tcPr marL="91440" marR="91440" marT="0" marB="0" anchor="ctr">
                    <a:lnL w="12700" cap="flat" cmpd="sng" algn="ctr">
                      <a:solidFill>
                        <a:srgbClr val="DDE6EF"/>
                      </a:solidFill>
                      <a:prstDash val="solid"/>
                      <a:round/>
                      <a:headEnd type="none" w="med" len="med"/>
                      <a:tailEnd type="none" w="med" len="med"/>
                    </a:lnL>
                    <a:lnR w="12700" cap="flat" cmpd="sng" algn="ctr">
                      <a:solidFill>
                        <a:srgbClr val="DDE6EF"/>
                      </a:solidFill>
                      <a:prstDash val="solid"/>
                      <a:round/>
                      <a:headEnd type="none" w="med" len="med"/>
                      <a:tailEnd type="none" w="med" len="med"/>
                    </a:lnR>
                    <a:lnT w="12700" cap="flat" cmpd="sng" algn="ctr">
                      <a:solidFill>
                        <a:srgbClr val="DDE6EF"/>
                      </a:solidFill>
                      <a:prstDash val="solid"/>
                      <a:round/>
                      <a:headEnd type="none" w="med" len="med"/>
                      <a:tailEnd type="none" w="med" len="med"/>
                    </a:lnT>
                    <a:lnB w="12700" cap="flat" cmpd="sng" algn="ctr">
                      <a:solidFill>
                        <a:srgbClr val="DDE6EF"/>
                      </a:solidFill>
                      <a:prstDash val="solid"/>
                      <a:round/>
                      <a:headEnd type="none" w="med" len="med"/>
                      <a:tailEnd type="none" w="med" len="med"/>
                    </a:lnB>
                    <a:solidFill>
                      <a:srgbClr val="EEF3F8"/>
                    </a:solidFill>
                  </a:tcPr>
                </a:tc>
              </a:tr>
              <a:tr h="658368">
                <a:tc>
                  <a:txBody>
                    <a:bodyPr/>
                    <a:lstStyle/>
                    <a:p>
                      <a:pPr indent="0" marL="0">
                        <a:buNone/>
                      </a:pPr>
                      <a:r>
                        <a:rPr lang="en-US" sz="1400" dirty="0">
                          <a:solidFill>
                            <a:srgbClr val="10233F"/>
                          </a:solidFill>
                        </a:rPr>
                        <a:t>Raw and cleaned data get mixed up</a:t>
                      </a:r>
                      <a:endParaRPr lang="en-US" sz="1400" dirty="0"/>
                    </a:p>
                  </a:txBody>
                  <a:tcPr marL="91440" marR="91440" marT="0" marB="0" anchor="ctr">
                    <a:lnL w="12700" cap="flat" cmpd="sng" algn="ctr">
                      <a:solidFill>
                        <a:srgbClr val="DDE6EF"/>
                      </a:solidFill>
                      <a:prstDash val="solid"/>
                      <a:round/>
                      <a:headEnd type="none" w="med" len="med"/>
                      <a:tailEnd type="none" w="med" len="med"/>
                    </a:lnL>
                    <a:lnR w="12700" cap="flat" cmpd="sng" algn="ctr">
                      <a:solidFill>
                        <a:srgbClr val="DDE6EF"/>
                      </a:solidFill>
                      <a:prstDash val="solid"/>
                      <a:round/>
                      <a:headEnd type="none" w="med" len="med"/>
                      <a:tailEnd type="none" w="med" len="med"/>
                    </a:lnR>
                    <a:lnT w="12700" cap="flat" cmpd="sng" algn="ctr">
                      <a:solidFill>
                        <a:srgbClr val="DDE6EF"/>
                      </a:solidFill>
                      <a:prstDash val="solid"/>
                      <a:round/>
                      <a:headEnd type="none" w="med" len="med"/>
                      <a:tailEnd type="none" w="med" len="med"/>
                    </a:lnT>
                    <a:lnB w="12700" cap="flat" cmpd="sng" algn="ctr">
                      <a:solidFill>
                        <a:srgbClr val="DDE6EF"/>
                      </a:solidFill>
                      <a:prstDash val="solid"/>
                      <a:round/>
                      <a:headEnd type="none" w="med" len="med"/>
                      <a:tailEnd type="none" w="med" len="med"/>
                    </a:lnB>
                    <a:solidFill>
                      <a:srgbClr val="FFFFFF"/>
                    </a:solidFill>
                  </a:tcPr>
                </a:tc>
                <a:tc>
                  <a:txBody>
                    <a:bodyPr/>
                    <a:lstStyle/>
                    <a:p>
                      <a:pPr indent="0" marL="0">
                        <a:buNone/>
                      </a:pPr>
                      <a:r>
                        <a:rPr lang="en-US" sz="1400" dirty="0">
                          <a:solidFill>
                            <a:srgbClr val="10233F"/>
                          </a:solidFill>
                        </a:rPr>
                        <a:t>Delta Lake Bronze, Silver and Gold layers</a:t>
                      </a:r>
                      <a:endParaRPr lang="en-US" sz="1400" dirty="0"/>
                    </a:p>
                  </a:txBody>
                  <a:tcPr marL="91440" marR="91440" marT="0" marB="0" anchor="ctr">
                    <a:lnL w="12700" cap="flat" cmpd="sng" algn="ctr">
                      <a:solidFill>
                        <a:srgbClr val="DDE6EF"/>
                      </a:solidFill>
                      <a:prstDash val="solid"/>
                      <a:round/>
                      <a:headEnd type="none" w="med" len="med"/>
                      <a:tailEnd type="none" w="med" len="med"/>
                    </a:lnL>
                    <a:lnR w="12700" cap="flat" cmpd="sng" algn="ctr">
                      <a:solidFill>
                        <a:srgbClr val="DDE6EF"/>
                      </a:solidFill>
                      <a:prstDash val="solid"/>
                      <a:round/>
                      <a:headEnd type="none" w="med" len="med"/>
                      <a:tailEnd type="none" w="med" len="med"/>
                    </a:lnR>
                    <a:lnT w="12700" cap="flat" cmpd="sng" algn="ctr">
                      <a:solidFill>
                        <a:srgbClr val="DDE6EF"/>
                      </a:solidFill>
                      <a:prstDash val="solid"/>
                      <a:round/>
                      <a:headEnd type="none" w="med" len="med"/>
                      <a:tailEnd type="none" w="med" len="med"/>
                    </a:lnT>
                    <a:lnB w="12700" cap="flat" cmpd="sng" algn="ctr">
                      <a:solidFill>
                        <a:srgbClr val="DDE6EF"/>
                      </a:solidFill>
                      <a:prstDash val="solid"/>
                      <a:round/>
                      <a:headEnd type="none" w="med" len="med"/>
                      <a:tailEnd type="none" w="med" len="med"/>
                    </a:lnB>
                    <a:solidFill>
                      <a:srgbClr val="FFFFFF"/>
                    </a:solidFill>
                  </a:tcPr>
                </a:tc>
                <a:tc>
                  <a:txBody>
                    <a:bodyPr/>
                    <a:lstStyle/>
                    <a:p>
                      <a:pPr indent="0" marL="0">
                        <a:buNone/>
                      </a:pPr>
                      <a:r>
                        <a:rPr lang="en-US" sz="1400" b="1" dirty="0">
                          <a:solidFill>
                            <a:srgbClr val="10233F"/>
                          </a:solidFill>
                        </a:rPr>
                        <a:t>Traceable, auditable transformations</a:t>
                      </a:r>
                      <a:endParaRPr lang="en-US" sz="1400" dirty="0"/>
                    </a:p>
                  </a:txBody>
                  <a:tcPr marL="91440" marR="91440" marT="0" marB="0" anchor="ctr">
                    <a:lnL w="12700" cap="flat" cmpd="sng" algn="ctr">
                      <a:solidFill>
                        <a:srgbClr val="DDE6EF"/>
                      </a:solidFill>
                      <a:prstDash val="solid"/>
                      <a:round/>
                      <a:headEnd type="none" w="med" len="med"/>
                      <a:tailEnd type="none" w="med" len="med"/>
                    </a:lnL>
                    <a:lnR w="12700" cap="flat" cmpd="sng" algn="ctr">
                      <a:solidFill>
                        <a:srgbClr val="DDE6EF"/>
                      </a:solidFill>
                      <a:prstDash val="solid"/>
                      <a:round/>
                      <a:headEnd type="none" w="med" len="med"/>
                      <a:tailEnd type="none" w="med" len="med"/>
                    </a:lnR>
                    <a:lnT w="12700" cap="flat" cmpd="sng" algn="ctr">
                      <a:solidFill>
                        <a:srgbClr val="DDE6EF"/>
                      </a:solidFill>
                      <a:prstDash val="solid"/>
                      <a:round/>
                      <a:headEnd type="none" w="med" len="med"/>
                      <a:tailEnd type="none" w="med" len="med"/>
                    </a:lnT>
                    <a:lnB w="12700" cap="flat" cmpd="sng" algn="ctr">
                      <a:solidFill>
                        <a:srgbClr val="DDE6EF"/>
                      </a:solidFill>
                      <a:prstDash val="solid"/>
                      <a:round/>
                      <a:headEnd type="none" w="med" len="med"/>
                      <a:tailEnd type="none" w="med" len="med"/>
                    </a:lnB>
                    <a:solidFill>
                      <a:srgbClr val="FFFFFF"/>
                    </a:solidFill>
                  </a:tcPr>
                </a:tc>
              </a:tr>
              <a:tr h="658368">
                <a:tc>
                  <a:txBody>
                    <a:bodyPr/>
                    <a:lstStyle/>
                    <a:p>
                      <a:pPr indent="0" marL="0">
                        <a:buNone/>
                      </a:pPr>
                      <a:r>
                        <a:rPr lang="en-US" sz="1400" dirty="0">
                          <a:solidFill>
                            <a:srgbClr val="10233F"/>
                          </a:solidFill>
                        </a:rPr>
                        <a:t>Tools may give different totals</a:t>
                      </a:r>
                      <a:endParaRPr lang="en-US" sz="1400" dirty="0"/>
                    </a:p>
                  </a:txBody>
                  <a:tcPr marL="91440" marR="91440" marT="0" marB="0" anchor="ctr">
                    <a:lnL w="12700" cap="flat" cmpd="sng" algn="ctr">
                      <a:solidFill>
                        <a:srgbClr val="DDE6EF"/>
                      </a:solidFill>
                      <a:prstDash val="solid"/>
                      <a:round/>
                      <a:headEnd type="none" w="med" len="med"/>
                      <a:tailEnd type="none" w="med" len="med"/>
                    </a:lnL>
                    <a:lnR w="12700" cap="flat" cmpd="sng" algn="ctr">
                      <a:solidFill>
                        <a:srgbClr val="DDE6EF"/>
                      </a:solidFill>
                      <a:prstDash val="solid"/>
                      <a:round/>
                      <a:headEnd type="none" w="med" len="med"/>
                      <a:tailEnd type="none" w="med" len="med"/>
                    </a:lnR>
                    <a:lnT w="12700" cap="flat" cmpd="sng" algn="ctr">
                      <a:solidFill>
                        <a:srgbClr val="DDE6EF"/>
                      </a:solidFill>
                      <a:prstDash val="solid"/>
                      <a:round/>
                      <a:headEnd type="none" w="med" len="med"/>
                      <a:tailEnd type="none" w="med" len="med"/>
                    </a:lnT>
                    <a:lnB w="12700" cap="flat" cmpd="sng" algn="ctr">
                      <a:solidFill>
                        <a:srgbClr val="DDE6EF"/>
                      </a:solidFill>
                      <a:prstDash val="solid"/>
                      <a:round/>
                      <a:headEnd type="none" w="med" len="med"/>
                      <a:tailEnd type="none" w="med" len="med"/>
                    </a:lnB>
                    <a:solidFill>
                      <a:srgbClr val="EEF3F8"/>
                    </a:solidFill>
                  </a:tcPr>
                </a:tc>
                <a:tc>
                  <a:txBody>
                    <a:bodyPr/>
                    <a:lstStyle/>
                    <a:p>
                      <a:pPr indent="0" marL="0">
                        <a:buNone/>
                      </a:pPr>
                      <a:r>
                        <a:rPr lang="en-US" sz="1400" dirty="0">
                          <a:solidFill>
                            <a:srgbClr val="10233F"/>
                          </a:solidFill>
                        </a:rPr>
                        <a:t>Shared KPI definitions and reconciliation checks</a:t>
                      </a:r>
                      <a:endParaRPr lang="en-US" sz="1400" dirty="0"/>
                    </a:p>
                  </a:txBody>
                  <a:tcPr marL="91440" marR="91440" marT="0" marB="0" anchor="ctr">
                    <a:lnL w="12700" cap="flat" cmpd="sng" algn="ctr">
                      <a:solidFill>
                        <a:srgbClr val="DDE6EF"/>
                      </a:solidFill>
                      <a:prstDash val="solid"/>
                      <a:round/>
                      <a:headEnd type="none" w="med" len="med"/>
                      <a:tailEnd type="none" w="med" len="med"/>
                    </a:lnL>
                    <a:lnR w="12700" cap="flat" cmpd="sng" algn="ctr">
                      <a:solidFill>
                        <a:srgbClr val="DDE6EF"/>
                      </a:solidFill>
                      <a:prstDash val="solid"/>
                      <a:round/>
                      <a:headEnd type="none" w="med" len="med"/>
                      <a:tailEnd type="none" w="med" len="med"/>
                    </a:lnR>
                    <a:lnT w="12700" cap="flat" cmpd="sng" algn="ctr">
                      <a:solidFill>
                        <a:srgbClr val="DDE6EF"/>
                      </a:solidFill>
                      <a:prstDash val="solid"/>
                      <a:round/>
                      <a:headEnd type="none" w="med" len="med"/>
                      <a:tailEnd type="none" w="med" len="med"/>
                    </a:lnT>
                    <a:lnB w="12700" cap="flat" cmpd="sng" algn="ctr">
                      <a:solidFill>
                        <a:srgbClr val="DDE6EF"/>
                      </a:solidFill>
                      <a:prstDash val="solid"/>
                      <a:round/>
                      <a:headEnd type="none" w="med" len="med"/>
                      <a:tailEnd type="none" w="med" len="med"/>
                    </a:lnB>
                    <a:solidFill>
                      <a:srgbClr val="EEF3F8"/>
                    </a:solidFill>
                  </a:tcPr>
                </a:tc>
                <a:tc>
                  <a:txBody>
                    <a:bodyPr/>
                    <a:lstStyle/>
                    <a:p>
                      <a:pPr indent="0" marL="0">
                        <a:buNone/>
                      </a:pPr>
                      <a:r>
                        <a:rPr lang="en-US" sz="1400" b="1" dirty="0">
                          <a:solidFill>
                            <a:srgbClr val="10233F"/>
                          </a:solidFill>
                        </a:rPr>
                        <a:t>Consistent, comparable numbers</a:t>
                      </a:r>
                      <a:endParaRPr lang="en-US" sz="1400" dirty="0"/>
                    </a:p>
                  </a:txBody>
                  <a:tcPr marL="91440" marR="91440" marT="0" marB="0" anchor="ctr">
                    <a:lnL w="12700" cap="flat" cmpd="sng" algn="ctr">
                      <a:solidFill>
                        <a:srgbClr val="DDE6EF"/>
                      </a:solidFill>
                      <a:prstDash val="solid"/>
                      <a:round/>
                      <a:headEnd type="none" w="med" len="med"/>
                      <a:tailEnd type="none" w="med" len="med"/>
                    </a:lnL>
                    <a:lnR w="12700" cap="flat" cmpd="sng" algn="ctr">
                      <a:solidFill>
                        <a:srgbClr val="DDE6EF"/>
                      </a:solidFill>
                      <a:prstDash val="solid"/>
                      <a:round/>
                      <a:headEnd type="none" w="med" len="med"/>
                      <a:tailEnd type="none" w="med" len="med"/>
                    </a:lnR>
                    <a:lnT w="12700" cap="flat" cmpd="sng" algn="ctr">
                      <a:solidFill>
                        <a:srgbClr val="DDE6EF"/>
                      </a:solidFill>
                      <a:prstDash val="solid"/>
                      <a:round/>
                      <a:headEnd type="none" w="med" len="med"/>
                      <a:tailEnd type="none" w="med" len="med"/>
                    </a:lnT>
                    <a:lnB w="12700" cap="flat" cmpd="sng" algn="ctr">
                      <a:solidFill>
                        <a:srgbClr val="DDE6EF"/>
                      </a:solidFill>
                      <a:prstDash val="solid"/>
                      <a:round/>
                      <a:headEnd type="none" w="med" len="med"/>
                      <a:tailEnd type="none" w="med" len="med"/>
                    </a:lnB>
                    <a:solidFill>
                      <a:srgbClr val="EEF3F8"/>
                    </a:solidFill>
                  </a:tcPr>
                </a:tc>
              </a:tr>
              <a:tr h="658368">
                <a:tc>
                  <a:txBody>
                    <a:bodyPr/>
                    <a:lstStyle/>
                    <a:p>
                      <a:pPr indent="0" marL="0">
                        <a:buNone/>
                      </a:pPr>
                      <a:r>
                        <a:rPr lang="en-US" sz="1400" dirty="0">
                          <a:solidFill>
                            <a:srgbClr val="10233F"/>
                          </a:solidFill>
                        </a:rPr>
                        <a:t>Managers need quick answers</a:t>
                      </a:r>
                      <a:endParaRPr lang="en-US" sz="1400" dirty="0"/>
                    </a:p>
                  </a:txBody>
                  <a:tcPr marL="91440" marR="91440" marT="0" marB="0" anchor="ctr">
                    <a:lnL w="12700" cap="flat" cmpd="sng" algn="ctr">
                      <a:solidFill>
                        <a:srgbClr val="DDE6EF"/>
                      </a:solidFill>
                      <a:prstDash val="solid"/>
                      <a:round/>
                      <a:headEnd type="none" w="med" len="med"/>
                      <a:tailEnd type="none" w="med" len="med"/>
                    </a:lnL>
                    <a:lnR w="12700" cap="flat" cmpd="sng" algn="ctr">
                      <a:solidFill>
                        <a:srgbClr val="DDE6EF"/>
                      </a:solidFill>
                      <a:prstDash val="solid"/>
                      <a:round/>
                      <a:headEnd type="none" w="med" len="med"/>
                      <a:tailEnd type="none" w="med" len="med"/>
                    </a:lnR>
                    <a:lnT w="12700" cap="flat" cmpd="sng" algn="ctr">
                      <a:solidFill>
                        <a:srgbClr val="DDE6EF"/>
                      </a:solidFill>
                      <a:prstDash val="solid"/>
                      <a:round/>
                      <a:headEnd type="none" w="med" len="med"/>
                      <a:tailEnd type="none" w="med" len="med"/>
                    </a:lnT>
                    <a:lnB w="12700" cap="flat" cmpd="sng" algn="ctr">
                      <a:solidFill>
                        <a:srgbClr val="DDE6EF"/>
                      </a:solidFill>
                      <a:prstDash val="solid"/>
                      <a:round/>
                      <a:headEnd type="none" w="med" len="med"/>
                      <a:tailEnd type="none" w="med" len="med"/>
                    </a:lnB>
                    <a:solidFill>
                      <a:srgbClr val="FFFFFF"/>
                    </a:solidFill>
                  </a:tcPr>
                </a:tc>
                <a:tc>
                  <a:txBody>
                    <a:bodyPr/>
                    <a:lstStyle/>
                    <a:p>
                      <a:pPr indent="0" marL="0">
                        <a:buNone/>
                      </a:pPr>
                      <a:r>
                        <a:rPr lang="en-US" sz="1400" dirty="0">
                          <a:solidFill>
                            <a:srgbClr val="10233F"/>
                          </a:solidFill>
                        </a:rPr>
                        <a:t>Power BI KPIs, visuals and slicers</a:t>
                      </a:r>
                      <a:endParaRPr lang="en-US" sz="1400" dirty="0"/>
                    </a:p>
                  </a:txBody>
                  <a:tcPr marL="91440" marR="91440" marT="0" marB="0" anchor="ctr">
                    <a:lnL w="12700" cap="flat" cmpd="sng" algn="ctr">
                      <a:solidFill>
                        <a:srgbClr val="DDE6EF"/>
                      </a:solidFill>
                      <a:prstDash val="solid"/>
                      <a:round/>
                      <a:headEnd type="none" w="med" len="med"/>
                      <a:tailEnd type="none" w="med" len="med"/>
                    </a:lnL>
                    <a:lnR w="12700" cap="flat" cmpd="sng" algn="ctr">
                      <a:solidFill>
                        <a:srgbClr val="DDE6EF"/>
                      </a:solidFill>
                      <a:prstDash val="solid"/>
                      <a:round/>
                      <a:headEnd type="none" w="med" len="med"/>
                      <a:tailEnd type="none" w="med" len="med"/>
                    </a:lnR>
                    <a:lnT w="12700" cap="flat" cmpd="sng" algn="ctr">
                      <a:solidFill>
                        <a:srgbClr val="DDE6EF"/>
                      </a:solidFill>
                      <a:prstDash val="solid"/>
                      <a:round/>
                      <a:headEnd type="none" w="med" len="med"/>
                      <a:tailEnd type="none" w="med" len="med"/>
                    </a:lnT>
                    <a:lnB w="12700" cap="flat" cmpd="sng" algn="ctr">
                      <a:solidFill>
                        <a:srgbClr val="DDE6EF"/>
                      </a:solidFill>
                      <a:prstDash val="solid"/>
                      <a:round/>
                      <a:headEnd type="none" w="med" len="med"/>
                      <a:tailEnd type="none" w="med" len="med"/>
                    </a:lnB>
                    <a:solidFill>
                      <a:srgbClr val="FFFFFF"/>
                    </a:solidFill>
                  </a:tcPr>
                </a:tc>
                <a:tc>
                  <a:txBody>
                    <a:bodyPr/>
                    <a:lstStyle/>
                    <a:p>
                      <a:pPr indent="0" marL="0">
                        <a:buNone/>
                      </a:pPr>
                      <a:r>
                        <a:rPr lang="en-US" sz="1400" b="1" dirty="0">
                          <a:solidFill>
                            <a:srgbClr val="10233F"/>
                          </a:solidFill>
                        </a:rPr>
                        <a:t>Interactive, decision-ready view</a:t>
                      </a:r>
                      <a:endParaRPr lang="en-US" sz="1400" dirty="0"/>
                    </a:p>
                  </a:txBody>
                  <a:tcPr marL="91440" marR="91440" marT="0" marB="0" anchor="ctr">
                    <a:lnL w="12700" cap="flat" cmpd="sng" algn="ctr">
                      <a:solidFill>
                        <a:srgbClr val="DDE6EF"/>
                      </a:solidFill>
                      <a:prstDash val="solid"/>
                      <a:round/>
                      <a:headEnd type="none" w="med" len="med"/>
                      <a:tailEnd type="none" w="med" len="med"/>
                    </a:lnL>
                    <a:lnR w="12700" cap="flat" cmpd="sng" algn="ctr">
                      <a:solidFill>
                        <a:srgbClr val="DDE6EF"/>
                      </a:solidFill>
                      <a:prstDash val="solid"/>
                      <a:round/>
                      <a:headEnd type="none" w="med" len="med"/>
                      <a:tailEnd type="none" w="med" len="med"/>
                    </a:lnR>
                    <a:lnT w="12700" cap="flat" cmpd="sng" algn="ctr">
                      <a:solidFill>
                        <a:srgbClr val="DDE6EF"/>
                      </a:solidFill>
                      <a:prstDash val="solid"/>
                      <a:round/>
                      <a:headEnd type="none" w="med" len="med"/>
                      <a:tailEnd type="none" w="med" len="med"/>
                    </a:lnT>
                    <a:lnB w="12700" cap="flat" cmpd="sng" algn="ctr">
                      <a:solidFill>
                        <a:srgbClr val="DDE6EF"/>
                      </a:solidFill>
                      <a:prstDash val="solid"/>
                      <a:round/>
                      <a:headEnd type="none" w="med" len="med"/>
                      <a:tailEnd type="none" w="med" len="med"/>
                    </a:lnB>
                    <a:solidFill>
                      <a:srgbClr val="FFFFFF"/>
                    </a:solidFill>
                  </a:tcPr>
                </a:tc>
              </a:tr>
            </a:tbl>
          </a:graphicData>
        </a:graphic>
      </p:graphicFrame>
      <p:sp>
        <p:nvSpPr>
          <p:cNvPr id="4" name="Honesty callout"/>
          <p:cNvSpPr/>
          <p:nvPr/>
        </p:nvSpPr>
        <p:spPr>
          <a:xfrm>
            <a:off x="457200" y="4160520"/>
            <a:ext cx="8229600" cy="457200"/>
          </a:xfrm>
          <a:prstGeom prst="roundRect">
            <a:avLst>
              <a:gd name="adj" fmla="val 20000"/>
            </a:avLst>
          </a:prstGeom>
          <a:solidFill>
            <a:schemeClr val="accent1">
              <a:alpha val="20000"/>
            </a:schemeClr>
          </a:solidFill>
          <a:ln/>
        </p:spPr>
        <p:txBody>
          <a:bodyPr wrap="square" lIns="0" tIns="0" rIns="0" bIns="0" rtlCol="0" anchor="ctr"/>
          <a:lstStyle/>
          <a:p>
            <a:pPr algn="ctr" indent="0" marL="0">
              <a:buNone/>
            </a:pPr>
            <a:r>
              <a:rPr lang="en-US" sz="1400" i="1" dirty="0">
                <a:solidFill>
                  <a:schemeClr val="tx1"/>
                </a:solidFill>
              </a:rPr>
              <a:t>The file is only 28.9 MB, so Spark demonstrates a repeatable, scalable pipeline rather than a strict need.</a:t>
            </a:r>
            <a:endParaRPr lang="en-US" sz="14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PostgreSQL and DBeaver Analysis</a:t>
            </a:r>
            <a:endParaRPr lang="en-US" sz="2800" dirty="0"/>
          </a:p>
        </p:txBody>
      </p:sp>
      <p:sp>
        <p:nvSpPr>
          <p:cNvPr id="3" name="SQL design bullets"/>
          <p:cNvSpPr txBox="1"/>
          <p:nvPr/>
        </p:nvSpPr>
        <p:spPr>
          <a:xfrm>
            <a:off x="457200" y="1097280"/>
            <a:ext cx="3383280" cy="3383280"/>
          </a:xfrm>
          <a:prstGeom prst="rect">
            <a:avLst/>
          </a:prstGeom>
          <a:noFill/>
          <a:ln/>
        </p:spPr>
        <p:txBody>
          <a:bodyPr wrap="square" lIns="0" tIns="0" rIns="0" bIns="0" rtlCol="0" anchor="t"/>
          <a:lstStyle/>
          <a:p>
            <a:pPr indent="0" marL="0">
              <a:spcAft>
                <a:spcPts val="800"/>
              </a:spcAft>
              <a:buNone/>
            </a:pPr>
            <a:r>
              <a:rPr lang="en-US" sz="1800" b="1" dirty="0">
                <a:solidFill>
                  <a:schemeClr val="tx1"/>
                </a:solidFill>
              </a:rPr>
              <a:t>Design choices</a:t>
            </a:r>
            <a:endParaRPr lang="en-US" sz="1800" dirty="0"/>
          </a:p>
          <a:p>
            <a:pPr marL="342900" indent="-342900">
              <a:spcAft>
                <a:spcPts val="800"/>
              </a:spcAft>
              <a:buSzPct val="100000"/>
              <a:buChar char="•"/>
            </a:pPr>
            <a:r>
              <a:rPr lang="en-US" sz="1400" dirty="0">
                <a:solidFill>
                  <a:schemeClr val="tx1"/>
                </a:solidFill>
              </a:rPr>
              <a:t>Load a staging table first; keep the raw CSV</a:t>
            </a:r>
            <a:endParaRPr lang="en-US" sz="1800" dirty="0"/>
          </a:p>
          <a:p>
            <a:pPr marL="342900" indent="-342900">
              <a:spcAft>
                <a:spcPts val="800"/>
              </a:spcAft>
              <a:buSzPct val="100000"/>
              <a:buChar char="•"/>
            </a:pPr>
            <a:r>
              <a:rPr lang="en-US" sz="1400" dirty="0">
                <a:solidFill>
                  <a:schemeClr val="tx1"/>
                </a:solidFill>
              </a:rPr>
              <a:t>NUMERIC(18,2) for revenue, cost and profit</a:t>
            </a:r>
            <a:endParaRPr lang="en-US" sz="1800" dirty="0"/>
          </a:p>
          <a:p>
            <a:pPr marL="342900" indent="-342900">
              <a:spcAft>
                <a:spcPts val="800"/>
              </a:spcAft>
              <a:buSzPct val="100000"/>
              <a:buChar char="•"/>
            </a:pPr>
            <a:r>
              <a:rPr lang="en-US" sz="1400" dirty="0">
                <a:solidFill>
                  <a:schemeClr val="tx1"/>
                </a:solidFill>
              </a:rPr>
              <a:t>DATE type for order_date</a:t>
            </a:r>
            <a:endParaRPr lang="en-US" sz="1800" dirty="0"/>
          </a:p>
          <a:p>
            <a:pPr marL="342900" indent="-342900">
              <a:spcAft>
                <a:spcPts val="800"/>
              </a:spcAft>
              <a:buSzPct val="100000"/>
              <a:buChar char="•"/>
            </a:pPr>
            <a:r>
              <a:rPr lang="en-US" sz="1400" dirty="0">
                <a:solidFill>
                  <a:schemeClr val="tx1"/>
                </a:solidFill>
              </a:rPr>
              <a:t>Primary key only after uniqueness is proven</a:t>
            </a:r>
            <a:endParaRPr lang="en-US" sz="1800" dirty="0"/>
          </a:p>
          <a:p>
            <a:pPr marL="342900" indent="-342900">
              <a:spcAft>
                <a:spcPts val="800"/>
              </a:spcAft>
              <a:buSzPct val="100000"/>
              <a:buChar char="•"/>
            </a:pPr>
            <a:r>
              <a:rPr lang="en-US" sz="1400" dirty="0">
                <a:solidFill>
                  <a:schemeClr val="tx1"/>
                </a:solidFill>
              </a:rPr>
              <a:t>DBeaver is the client; save queries as .sql files</a:t>
            </a:r>
            <a:endParaRPr lang="en-US" sz="1800" dirty="0"/>
          </a:p>
        </p:txBody>
      </p:sp>
      <p:sp>
        <p:nvSpPr>
          <p:cNvPr id="4" name="Code label"/>
          <p:cNvSpPr txBox="1"/>
          <p:nvPr/>
        </p:nvSpPr>
        <p:spPr>
          <a:xfrm>
            <a:off x="4023360" y="1097280"/>
            <a:ext cx="4663440" cy="274320"/>
          </a:xfrm>
          <a:prstGeom prst="rect">
            <a:avLst/>
          </a:prstGeom>
          <a:noFill/>
          <a:ln/>
        </p:spPr>
        <p:txBody>
          <a:bodyPr wrap="square" lIns="0" tIns="0" rIns="0" bIns="0" rtlCol="0" anchor="ctr"/>
          <a:lstStyle/>
          <a:p>
            <a:pPr indent="0" marL="0">
              <a:buNone/>
            </a:pPr>
            <a:r>
              <a:rPr lang="en-US" sz="1200" b="1" dirty="0">
                <a:solidFill>
                  <a:schemeClr val="accent6"/>
                </a:solidFill>
              </a:rPr>
              <a:t>Sample queries run in DBeaver</a:t>
            </a:r>
            <a:endParaRPr lang="en-US" sz="1200" dirty="0"/>
          </a:p>
        </p:txBody>
      </p:sp>
      <p:sp>
        <p:nvSpPr>
          <p:cNvPr id="5" name="SQL code block"/>
          <p:cNvSpPr/>
          <p:nvPr/>
        </p:nvSpPr>
        <p:spPr>
          <a:xfrm>
            <a:off x="4023360" y="1417320"/>
            <a:ext cx="4663440" cy="3063240"/>
          </a:xfrm>
          <a:prstGeom prst="roundRect">
            <a:avLst>
              <a:gd name="adj" fmla="val 2985"/>
            </a:avLst>
          </a:prstGeom>
          <a:solidFill>
            <a:schemeClr val="tx2"/>
          </a:solidFill>
          <a:ln/>
        </p:spPr>
        <p:txBody>
          <a:bodyPr wrap="square" lIns="127000" tIns="152400" rIns="152400" bIns="127000" rtlCol="0" anchor="t"/>
          <a:lstStyle/>
          <a:p>
            <a:pPr algn="l" indent="0" marL="0">
              <a:buNone/>
            </a:pPr>
            <a:r>
              <a:rPr lang="en-US" sz="1200" dirty="0">
                <a:solidFill>
                  <a:schemeClr val="bg2"/>
                </a:solidFill>
                <a:latin typeface="Courier New" pitchFamily="34" charset="0"/>
                <a:ea typeface="Courier New" pitchFamily="34" charset="-122"/>
                <a:cs typeface="Courier New" pitchFamily="34" charset="-120"/>
              </a:rPr>
              <a:t>-- Revenue by country</a:t>
            </a:r>
            <a:endParaRPr lang="en-US" sz="1200" dirty="0"/>
          </a:p>
          <a:p>
            <a:pPr algn="l" indent="0" marL="0">
              <a:buNone/>
            </a:pPr>
            <a:r>
              <a:rPr lang="en-US" sz="1200" dirty="0">
                <a:solidFill>
                  <a:schemeClr val="bg2"/>
                </a:solidFill>
                <a:latin typeface="Courier New" pitchFamily="34" charset="0"/>
                <a:ea typeface="Courier New" pitchFamily="34" charset="-122"/>
                <a:cs typeface="Courier New" pitchFamily="34" charset="-120"/>
              </a:rPr>
              <a:t>SELECT country_name,</a:t>
            </a:r>
            <a:endParaRPr lang="en-US" sz="1200" dirty="0"/>
          </a:p>
          <a:p>
            <a:pPr algn="l" indent="0" marL="0">
              <a:buNone/>
            </a:pPr>
            <a:r>
              <a:rPr lang="en-US" sz="1200" dirty="0">
                <a:solidFill>
                  <a:schemeClr val="bg2"/>
                </a:solidFill>
                <a:latin typeface="Courier New" pitchFamily="34" charset="0"/>
                <a:ea typeface="Courier New" pitchFamily="34" charset="-122"/>
                <a:cs typeface="Courier New" pitchFamily="34" charset="-120"/>
              </a:rPr>
              <a:t>       SUM(revenue_usd) AS synthetic_revenue</a:t>
            </a:r>
            <a:endParaRPr lang="en-US" sz="1200" dirty="0"/>
          </a:p>
          <a:p>
            <a:pPr algn="l" indent="0" marL="0">
              <a:buNone/>
            </a:pPr>
            <a:r>
              <a:rPr lang="en-US" sz="1200" dirty="0">
                <a:solidFill>
                  <a:schemeClr val="bg2"/>
                </a:solidFill>
                <a:latin typeface="Courier New" pitchFamily="34" charset="0"/>
                <a:ea typeface="Courier New" pitchFamily="34" charset="-122"/>
                <a:cs typeface="Courier New" pitchFamily="34" charset="-120"/>
              </a:rPr>
              <a:t>FROM public.robotics_market</a:t>
            </a:r>
            <a:endParaRPr lang="en-US" sz="1200" dirty="0"/>
          </a:p>
          <a:p>
            <a:pPr algn="l" indent="0" marL="0">
              <a:buNone/>
            </a:pPr>
            <a:r>
              <a:rPr lang="en-US" sz="1200" dirty="0">
                <a:solidFill>
                  <a:schemeClr val="bg2"/>
                </a:solidFill>
                <a:latin typeface="Courier New" pitchFamily="34" charset="0"/>
                <a:ea typeface="Courier New" pitchFamily="34" charset="-122"/>
                <a:cs typeface="Courier New" pitchFamily="34" charset="-120"/>
              </a:rPr>
              <a:t>GROUP BY country_name</a:t>
            </a:r>
            <a:endParaRPr lang="en-US" sz="1200" dirty="0"/>
          </a:p>
          <a:p>
            <a:pPr algn="l" indent="0" marL="0">
              <a:buNone/>
            </a:pPr>
            <a:r>
              <a:rPr lang="en-US" sz="1200" dirty="0">
                <a:solidFill>
                  <a:schemeClr val="bg2"/>
                </a:solidFill>
                <a:latin typeface="Courier New" pitchFamily="34" charset="0"/>
                <a:ea typeface="Courier New" pitchFamily="34" charset="-122"/>
                <a:cs typeface="Courier New" pitchFamily="34" charset="-120"/>
              </a:rPr>
              <a:t>ORDER BY synthetic_revenue DESC;</a:t>
            </a:r>
            <a:endParaRPr lang="en-US" sz="1200" dirty="0"/>
          </a:p>
          <a:p>
            <a:pPr algn="l" indent="0" marL="0">
              <a:buNone/>
            </a:pPr>
            <a:endParaRPr lang="en-US" sz="1200" dirty="0"/>
          </a:p>
          <a:p>
            <a:pPr algn="l" indent="0" marL="0">
              <a:buNone/>
            </a:pPr>
            <a:r>
              <a:rPr lang="en-US" sz="1200" dirty="0">
                <a:solidFill>
                  <a:schemeClr val="bg2"/>
                </a:solidFill>
                <a:latin typeface="Courier New" pitchFamily="34" charset="0"/>
                <a:ea typeface="Courier New" pitchFamily="34" charset="-122"/>
                <a:cs typeface="Courier New" pitchFamily="34" charset="-120"/>
              </a:rPr>
              <a:t>-- Monthly trend</a:t>
            </a:r>
            <a:endParaRPr lang="en-US" sz="1200" dirty="0"/>
          </a:p>
          <a:p>
            <a:pPr algn="l" indent="0" marL="0">
              <a:buNone/>
            </a:pPr>
            <a:r>
              <a:rPr lang="en-US" sz="1200" dirty="0">
                <a:solidFill>
                  <a:schemeClr val="bg2"/>
                </a:solidFill>
                <a:latin typeface="Courier New" pitchFamily="34" charset="0"/>
                <a:ea typeface="Courier New" pitchFamily="34" charset="-122"/>
                <a:cs typeface="Courier New" pitchFamily="34" charset="-120"/>
              </a:rPr>
              <a:t>SELECT DATE_TRUNC('month', order_date) AS m,</a:t>
            </a:r>
            <a:endParaRPr lang="en-US" sz="1200" dirty="0"/>
          </a:p>
          <a:p>
            <a:pPr algn="l" indent="0" marL="0">
              <a:buNone/>
            </a:pPr>
            <a:r>
              <a:rPr lang="en-US" sz="1200" dirty="0">
                <a:solidFill>
                  <a:schemeClr val="bg2"/>
                </a:solidFill>
                <a:latin typeface="Courier New" pitchFamily="34" charset="0"/>
                <a:ea typeface="Courier New" pitchFamily="34" charset="-122"/>
                <a:cs typeface="Courier New" pitchFamily="34" charset="-120"/>
              </a:rPr>
              <a:t>       SUM(revenue_usd) AS synthetic_revenue</a:t>
            </a:r>
            <a:endParaRPr lang="en-US" sz="1200" dirty="0"/>
          </a:p>
          <a:p>
            <a:pPr algn="l" indent="0" marL="0">
              <a:buNone/>
            </a:pPr>
            <a:r>
              <a:rPr lang="en-US" sz="1200" dirty="0">
                <a:solidFill>
                  <a:schemeClr val="bg2"/>
                </a:solidFill>
                <a:latin typeface="Courier New" pitchFamily="34" charset="0"/>
                <a:ea typeface="Courier New" pitchFamily="34" charset="-122"/>
                <a:cs typeface="Courier New" pitchFamily="34" charset="-120"/>
              </a:rPr>
              <a:t>FROM public.robotics_market</a:t>
            </a:r>
            <a:endParaRPr lang="en-US" sz="1200" dirty="0"/>
          </a:p>
          <a:p>
            <a:pPr algn="l" indent="0" marL="0">
              <a:buNone/>
            </a:pPr>
            <a:r>
              <a:rPr lang="en-US" sz="1200" dirty="0">
                <a:solidFill>
                  <a:schemeClr val="bg2"/>
                </a:solidFill>
                <a:latin typeface="Courier New" pitchFamily="34" charset="0"/>
                <a:ea typeface="Courier New" pitchFamily="34" charset="-122"/>
                <a:cs typeface="Courier New" pitchFamily="34" charset="-120"/>
              </a:rPr>
              <a:t>WHERE order_date IS NOT NULL</a:t>
            </a:r>
            <a:endParaRPr lang="en-US" sz="1200" dirty="0"/>
          </a:p>
          <a:p>
            <a:pPr algn="l" indent="0" marL="0">
              <a:buNone/>
            </a:pPr>
            <a:r>
              <a:rPr lang="en-US" sz="1200" dirty="0">
                <a:solidFill>
                  <a:schemeClr val="bg2"/>
                </a:solidFill>
                <a:latin typeface="Courier New" pitchFamily="34" charset="0"/>
                <a:ea typeface="Courier New" pitchFamily="34" charset="-122"/>
                <a:cs typeface="Courier New" pitchFamily="34" charset="-120"/>
              </a:rPr>
              <a:t>GROUP BY 1 ORDER BY 1;</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Python: Profiling and Core Metrics</a:t>
            </a:r>
            <a:endParaRPr lang="en-US" sz="2800" dirty="0"/>
          </a:p>
        </p:txBody>
      </p:sp>
      <p:sp>
        <p:nvSpPr>
          <p:cNvPr id="3" name="Python code block"/>
          <p:cNvSpPr/>
          <p:nvPr/>
        </p:nvSpPr>
        <p:spPr>
          <a:xfrm>
            <a:off x="457200" y="1097280"/>
            <a:ext cx="4846320" cy="2926080"/>
          </a:xfrm>
          <a:prstGeom prst="roundRect">
            <a:avLst>
              <a:gd name="adj" fmla="val 3125"/>
            </a:avLst>
          </a:prstGeom>
          <a:solidFill>
            <a:schemeClr val="tx2"/>
          </a:solidFill>
          <a:ln/>
        </p:spPr>
        <p:txBody>
          <a:bodyPr wrap="square" lIns="127000" tIns="152400" rIns="152400" bIns="127000" rtlCol="0" anchor="t"/>
          <a:lstStyle/>
          <a:p>
            <a:pPr algn="l" indent="0" marL="0">
              <a:buNone/>
            </a:pPr>
            <a:r>
              <a:rPr lang="en-US" sz="1200" dirty="0">
                <a:solidFill>
                  <a:schemeClr val="bg2"/>
                </a:solidFill>
                <a:latin typeface="Courier New" pitchFamily="34" charset="0"/>
                <a:ea typeface="Courier New" pitchFamily="34" charset="-122"/>
                <a:cs typeface="Courier New" pitchFamily="34" charset="-120"/>
              </a:rPr>
              <a:t>import pandas as pd</a:t>
            </a:r>
            <a:endParaRPr lang="en-US" sz="1200" dirty="0"/>
          </a:p>
          <a:p>
            <a:pPr algn="l" indent="0" marL="0">
              <a:buNone/>
            </a:pPr>
            <a:endParaRPr lang="en-US" sz="1200" dirty="0"/>
          </a:p>
          <a:p>
            <a:pPr algn="l" indent="0" marL="0">
              <a:buNone/>
            </a:pPr>
            <a:r>
              <a:rPr lang="en-US" sz="1200" dirty="0">
                <a:solidFill>
                  <a:schemeClr val="bg2"/>
                </a:solidFill>
                <a:latin typeface="Courier New" pitchFamily="34" charset="0"/>
                <a:ea typeface="Courier New" pitchFamily="34" charset="-122"/>
                <a:cs typeface="Courier New" pitchFamily="34" charset="-120"/>
              </a:rPr>
              <a:t>df = pd.read_csv("robotics_market.csv")</a:t>
            </a:r>
            <a:endParaRPr lang="en-US" sz="1200" dirty="0"/>
          </a:p>
          <a:p>
            <a:pPr algn="l" indent="0" marL="0">
              <a:buNone/>
            </a:pPr>
            <a:r>
              <a:rPr lang="en-US" sz="1200" dirty="0">
                <a:solidFill>
                  <a:schemeClr val="bg2"/>
                </a:solidFill>
                <a:latin typeface="Courier New" pitchFamily="34" charset="0"/>
                <a:ea typeface="Courier New" pitchFamily="34" charset="-122"/>
                <a:cs typeface="Courier New" pitchFamily="34" charset="-120"/>
              </a:rPr>
              <a:t>print(df.shape)               # (50000, 35)</a:t>
            </a:r>
            <a:endParaRPr lang="en-US" sz="1200" dirty="0"/>
          </a:p>
          <a:p>
            <a:pPr algn="l" indent="0" marL="0">
              <a:buNone/>
            </a:pPr>
            <a:r>
              <a:rPr lang="en-US" sz="1200" dirty="0">
                <a:solidFill>
                  <a:schemeClr val="bg2"/>
                </a:solidFill>
                <a:latin typeface="Courier New" pitchFamily="34" charset="0"/>
                <a:ea typeface="Courier New" pitchFamily="34" charset="-122"/>
                <a:cs typeface="Courier New" pitchFamily="34" charset="-120"/>
              </a:rPr>
              <a:t>print(df.isna().sum().sum())  # 0 missing</a:t>
            </a:r>
            <a:endParaRPr lang="en-US" sz="1200" dirty="0"/>
          </a:p>
          <a:p>
            <a:pPr algn="l" indent="0" marL="0">
              <a:buNone/>
            </a:pPr>
            <a:r>
              <a:rPr lang="en-US" sz="1200" dirty="0">
                <a:solidFill>
                  <a:schemeClr val="bg2"/>
                </a:solidFill>
                <a:latin typeface="Courier New" pitchFamily="34" charset="0"/>
                <a:ea typeface="Courier New" pitchFamily="34" charset="-122"/>
                <a:cs typeface="Courier New" pitchFamily="34" charset="-120"/>
              </a:rPr>
              <a:t>print(df.duplicated().sum())  # 0 duplicates</a:t>
            </a:r>
            <a:endParaRPr lang="en-US" sz="1200" dirty="0"/>
          </a:p>
          <a:p>
            <a:pPr algn="l" indent="0" marL="0">
              <a:buNone/>
            </a:pPr>
            <a:endParaRPr lang="en-US" sz="1200" dirty="0"/>
          </a:p>
          <a:p>
            <a:pPr algn="l" indent="0" marL="0">
              <a:buNone/>
            </a:pPr>
            <a:r>
              <a:rPr lang="en-US" sz="1200" dirty="0">
                <a:solidFill>
                  <a:schemeClr val="bg2"/>
                </a:solidFill>
                <a:latin typeface="Courier New" pitchFamily="34" charset="0"/>
                <a:ea typeface="Courier New" pitchFamily="34" charset="-122"/>
                <a:cs typeface="Courier New" pitchFamily="34" charset="-120"/>
              </a:rPr>
              <a:t>df["order_date"] = pd.to_datetime(</a:t>
            </a:r>
            <a:endParaRPr lang="en-US" sz="1200" dirty="0"/>
          </a:p>
          <a:p>
            <a:pPr algn="l" indent="0" marL="0">
              <a:buNone/>
            </a:pPr>
            <a:r>
              <a:rPr lang="en-US" sz="1200" dirty="0">
                <a:solidFill>
                  <a:schemeClr val="bg2"/>
                </a:solidFill>
                <a:latin typeface="Courier New" pitchFamily="34" charset="0"/>
                <a:ea typeface="Courier New" pitchFamily="34" charset="-122"/>
                <a:cs typeface="Courier New" pitchFamily="34" charset="-120"/>
              </a:rPr>
              <a:t>    df["order_date"], dayfirst=True)</a:t>
            </a:r>
            <a:endParaRPr lang="en-US" sz="1200" dirty="0"/>
          </a:p>
          <a:p>
            <a:pPr algn="l" indent="0" marL="0">
              <a:buNone/>
            </a:pPr>
            <a:endParaRPr lang="en-US" sz="1200" dirty="0"/>
          </a:p>
          <a:p>
            <a:pPr algn="l" indent="0" marL="0">
              <a:buNone/>
            </a:pPr>
            <a:r>
              <a:rPr lang="en-US" sz="1200" dirty="0">
                <a:solidFill>
                  <a:schemeClr val="bg2"/>
                </a:solidFill>
                <a:latin typeface="Courier New" pitchFamily="34" charset="0"/>
                <a:ea typeface="Courier New" pitchFamily="34" charset="-122"/>
                <a:cs typeface="Courier New" pitchFamily="34" charset="-120"/>
              </a:rPr>
              <a:t>margin = (df.estimated_gross_profit_usd.sum()</a:t>
            </a:r>
            <a:endParaRPr lang="en-US" sz="1200" dirty="0"/>
          </a:p>
          <a:p>
            <a:pPr algn="l" indent="0" marL="0">
              <a:buNone/>
            </a:pPr>
            <a:r>
              <a:rPr lang="en-US" sz="1200" dirty="0">
                <a:solidFill>
                  <a:schemeClr val="bg2"/>
                </a:solidFill>
                <a:latin typeface="Courier New" pitchFamily="34" charset="0"/>
                <a:ea typeface="Courier New" pitchFamily="34" charset="-122"/>
                <a:cs typeface="Courier New" pitchFamily="34" charset="-120"/>
              </a:rPr>
              <a:t>          / df.revenue_usd.sum())  # 0.2278</a:t>
            </a:r>
            <a:endParaRPr lang="en-US" sz="1200" dirty="0"/>
          </a:p>
        </p:txBody>
      </p:sp>
      <p:sp>
        <p:nvSpPr>
          <p:cNvPr id="4" name="Cleaning policy"/>
          <p:cNvSpPr txBox="1"/>
          <p:nvPr/>
        </p:nvSpPr>
        <p:spPr>
          <a:xfrm>
            <a:off x="457200" y="4160520"/>
            <a:ext cx="4846320" cy="411480"/>
          </a:xfrm>
          <a:prstGeom prst="rect">
            <a:avLst/>
          </a:prstGeom>
          <a:noFill/>
          <a:ln/>
        </p:spPr>
        <p:txBody>
          <a:bodyPr wrap="square" lIns="0" tIns="0" rIns="0" bIns="0" rtlCol="0" anchor="ctr"/>
          <a:lstStyle/>
          <a:p>
            <a:pPr indent="0" marL="0">
              <a:buNone/>
            </a:pPr>
            <a:r>
              <a:rPr lang="en-US" sz="1400" i="1" dirty="0">
                <a:solidFill>
                  <a:schemeClr val="tx1"/>
                </a:solidFill>
              </a:rPr>
              <a:t>Raw copy is kept; duplicates are inspected, never auto-deleted.</a:t>
            </a:r>
            <a:endParaRPr lang="en-US" sz="1400" dirty="0"/>
          </a:p>
        </p:txBody>
      </p:sp>
      <p:sp>
        <p:nvSpPr>
          <p:cNvPr id="5" name="Metric card Revenue field total"/>
          <p:cNvSpPr/>
          <p:nvPr/>
        </p:nvSpPr>
        <p:spPr>
          <a:xfrm>
            <a:off x="5577840" y="1097280"/>
            <a:ext cx="3108960" cy="1005840"/>
          </a:xfrm>
          <a:prstGeom prst="roundRect">
            <a:avLst>
              <a:gd name="adj" fmla="val 10909"/>
            </a:avLst>
          </a:prstGeom>
          <a:solidFill>
            <a:schemeClr val="bg2"/>
          </a:solidFill>
          <a:ln/>
        </p:spPr>
      </p:sp>
      <p:sp>
        <p:nvSpPr>
          <p:cNvPr id="6" name="Metric value Revenue field total"/>
          <p:cNvSpPr txBox="1"/>
          <p:nvPr/>
        </p:nvSpPr>
        <p:spPr>
          <a:xfrm>
            <a:off x="5577840" y="1170432"/>
            <a:ext cx="3108960" cy="548640"/>
          </a:xfrm>
          <a:prstGeom prst="rect">
            <a:avLst/>
          </a:prstGeom>
          <a:noFill/>
          <a:ln/>
        </p:spPr>
        <p:txBody>
          <a:bodyPr wrap="square" lIns="0" tIns="0" rIns="0" bIns="0" rtlCol="0" anchor="ctr"/>
          <a:lstStyle/>
          <a:p>
            <a:pPr algn="ctr" indent="0" marL="0">
              <a:buNone/>
            </a:pPr>
            <a:r>
              <a:rPr lang="en-US" sz="2800" b="1" dirty="0">
                <a:solidFill>
                  <a:schemeClr val="tx1"/>
                </a:solidFill>
              </a:rPr>
              <a:t>$2.04B</a:t>
            </a:r>
            <a:endParaRPr lang="en-US" sz="2800" dirty="0"/>
          </a:p>
        </p:txBody>
      </p:sp>
      <p:sp>
        <p:nvSpPr>
          <p:cNvPr id="7" name="Metric label Revenue field total"/>
          <p:cNvSpPr txBox="1"/>
          <p:nvPr/>
        </p:nvSpPr>
        <p:spPr>
          <a:xfrm>
            <a:off x="5577840" y="1719072"/>
            <a:ext cx="3108960" cy="274320"/>
          </a:xfrm>
          <a:prstGeom prst="rect">
            <a:avLst/>
          </a:prstGeom>
          <a:noFill/>
          <a:ln/>
        </p:spPr>
        <p:txBody>
          <a:bodyPr wrap="square" lIns="0" tIns="0" rIns="0" bIns="0" rtlCol="0" anchor="ctr"/>
          <a:lstStyle/>
          <a:p>
            <a:pPr algn="ctr" indent="0" marL="0">
              <a:buNone/>
            </a:pPr>
            <a:r>
              <a:rPr lang="en-US" sz="1200" dirty="0">
                <a:solidFill>
                  <a:schemeClr val="accent6"/>
                </a:solidFill>
              </a:rPr>
              <a:t>Revenue field total</a:t>
            </a:r>
            <a:endParaRPr lang="en-US" sz="1200" dirty="0"/>
          </a:p>
        </p:txBody>
      </p:sp>
      <p:sp>
        <p:nvSpPr>
          <p:cNvPr id="8" name="Metric card Estimated gross profit"/>
          <p:cNvSpPr/>
          <p:nvPr/>
        </p:nvSpPr>
        <p:spPr>
          <a:xfrm>
            <a:off x="5577840" y="2240280"/>
            <a:ext cx="3108960" cy="1005840"/>
          </a:xfrm>
          <a:prstGeom prst="roundRect">
            <a:avLst>
              <a:gd name="adj" fmla="val 10909"/>
            </a:avLst>
          </a:prstGeom>
          <a:solidFill>
            <a:schemeClr val="bg2"/>
          </a:solidFill>
          <a:ln/>
        </p:spPr>
      </p:sp>
      <p:sp>
        <p:nvSpPr>
          <p:cNvPr id="9" name="Metric value Estimated gross profit"/>
          <p:cNvSpPr txBox="1"/>
          <p:nvPr/>
        </p:nvSpPr>
        <p:spPr>
          <a:xfrm>
            <a:off x="5577840" y="2313432"/>
            <a:ext cx="3108960" cy="548640"/>
          </a:xfrm>
          <a:prstGeom prst="rect">
            <a:avLst/>
          </a:prstGeom>
          <a:noFill/>
          <a:ln/>
        </p:spPr>
        <p:txBody>
          <a:bodyPr wrap="square" lIns="0" tIns="0" rIns="0" bIns="0" rtlCol="0" anchor="ctr"/>
          <a:lstStyle/>
          <a:p>
            <a:pPr algn="ctr" indent="0" marL="0">
              <a:buNone/>
            </a:pPr>
            <a:r>
              <a:rPr lang="en-US" sz="2800" b="1" dirty="0">
                <a:solidFill>
                  <a:schemeClr val="tx1"/>
                </a:solidFill>
              </a:rPr>
              <a:t>$464.2M</a:t>
            </a:r>
            <a:endParaRPr lang="en-US" sz="2800" dirty="0"/>
          </a:p>
        </p:txBody>
      </p:sp>
      <p:sp>
        <p:nvSpPr>
          <p:cNvPr id="10" name="Metric label Estimated gross profit"/>
          <p:cNvSpPr txBox="1"/>
          <p:nvPr/>
        </p:nvSpPr>
        <p:spPr>
          <a:xfrm>
            <a:off x="5577840" y="2862072"/>
            <a:ext cx="3108960" cy="274320"/>
          </a:xfrm>
          <a:prstGeom prst="rect">
            <a:avLst/>
          </a:prstGeom>
          <a:noFill/>
          <a:ln/>
        </p:spPr>
        <p:txBody>
          <a:bodyPr wrap="square" lIns="0" tIns="0" rIns="0" bIns="0" rtlCol="0" anchor="ctr"/>
          <a:lstStyle/>
          <a:p>
            <a:pPr algn="ctr" indent="0" marL="0">
              <a:buNone/>
            </a:pPr>
            <a:r>
              <a:rPr lang="en-US" sz="1200" dirty="0">
                <a:solidFill>
                  <a:schemeClr val="accent6"/>
                </a:solidFill>
              </a:rPr>
              <a:t>Estimated gross profit</a:t>
            </a:r>
            <a:endParaRPr lang="en-US" sz="1200" dirty="0"/>
          </a:p>
        </p:txBody>
      </p:sp>
      <p:sp>
        <p:nvSpPr>
          <p:cNvPr id="11" name="Metric card Aggregate estimated margin"/>
          <p:cNvSpPr/>
          <p:nvPr/>
        </p:nvSpPr>
        <p:spPr>
          <a:xfrm>
            <a:off x="5577840" y="3383280"/>
            <a:ext cx="3108960" cy="1005840"/>
          </a:xfrm>
          <a:prstGeom prst="roundRect">
            <a:avLst>
              <a:gd name="adj" fmla="val 10909"/>
            </a:avLst>
          </a:prstGeom>
          <a:solidFill>
            <a:schemeClr val="bg2"/>
          </a:solidFill>
          <a:ln/>
        </p:spPr>
      </p:sp>
      <p:sp>
        <p:nvSpPr>
          <p:cNvPr id="12" name="Metric value Aggregate estimated margin"/>
          <p:cNvSpPr txBox="1"/>
          <p:nvPr/>
        </p:nvSpPr>
        <p:spPr>
          <a:xfrm>
            <a:off x="5577840" y="3456432"/>
            <a:ext cx="3108960" cy="548640"/>
          </a:xfrm>
          <a:prstGeom prst="rect">
            <a:avLst/>
          </a:prstGeom>
          <a:noFill/>
          <a:ln/>
        </p:spPr>
        <p:txBody>
          <a:bodyPr wrap="square" lIns="0" tIns="0" rIns="0" bIns="0" rtlCol="0" anchor="ctr"/>
          <a:lstStyle/>
          <a:p>
            <a:pPr algn="ctr" indent="0" marL="0">
              <a:buNone/>
            </a:pPr>
            <a:r>
              <a:rPr lang="en-US" sz="2800" b="1" dirty="0">
                <a:solidFill>
                  <a:schemeClr val="tx1"/>
                </a:solidFill>
              </a:rPr>
              <a:t>22.78%</a:t>
            </a:r>
            <a:endParaRPr lang="en-US" sz="2800" dirty="0"/>
          </a:p>
        </p:txBody>
      </p:sp>
      <p:sp>
        <p:nvSpPr>
          <p:cNvPr id="13" name="Metric label Aggregate estimated margin"/>
          <p:cNvSpPr txBox="1"/>
          <p:nvPr/>
        </p:nvSpPr>
        <p:spPr>
          <a:xfrm>
            <a:off x="5577840" y="4005072"/>
            <a:ext cx="3108960" cy="274320"/>
          </a:xfrm>
          <a:prstGeom prst="rect">
            <a:avLst/>
          </a:prstGeom>
          <a:noFill/>
          <a:ln/>
        </p:spPr>
        <p:txBody>
          <a:bodyPr wrap="square" lIns="0" tIns="0" rIns="0" bIns="0" rtlCol="0" anchor="ctr"/>
          <a:lstStyle/>
          <a:p>
            <a:pPr algn="ctr" indent="0" marL="0">
              <a:buNone/>
            </a:pPr>
            <a:r>
              <a:rPr lang="en-US" sz="1200" dirty="0">
                <a:solidFill>
                  <a:schemeClr val="accent6"/>
                </a:solidFill>
              </a:rPr>
              <a:t>Aggregate estimated margin</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Python Visualisations</a:t>
            </a:r>
            <a:endParaRPr lang="en-US" sz="2800" dirty="0"/>
          </a:p>
        </p:txBody>
      </p:sp>
      <p:pic>
        <p:nvPicPr>
          <p:cNvPr id="3" name="Figure 1 countries" descr="Bar chart of top countries by synthetic recorded revenue">    </p:cNvPr>
          <p:cNvPicPr>
            <a:picLocks noChangeAspect="1"/>
          </p:cNvPicPr>
          <p:nvPr/>
        </p:nvPicPr>
        <p:blipFill>
          <a:blip r:embed="rId1"/>
          <a:stretch>
            <a:fillRect/>
          </a:stretch>
        </p:blipFill>
        <p:spPr>
          <a:xfrm>
            <a:off x="457200" y="1097280"/>
            <a:ext cx="4023360" cy="2130552"/>
          </a:xfrm>
          <a:prstGeom prst="rect">
            <a:avLst/>
          </a:prstGeom>
        </p:spPr>
      </p:pic>
      <p:pic>
        <p:nvPicPr>
          <p:cNvPr id="4" name="Figure 4 monthly" descr="Line chart of monthly synthetic recorded revenue">    </p:cNvPr>
          <p:cNvPicPr>
            <a:picLocks noChangeAspect="1"/>
          </p:cNvPicPr>
          <p:nvPr/>
        </p:nvPicPr>
        <p:blipFill>
          <a:blip r:embed="rId2"/>
          <a:stretch>
            <a:fillRect/>
          </a:stretch>
        </p:blipFill>
        <p:spPr>
          <a:xfrm>
            <a:off x="4663440" y="1097280"/>
            <a:ext cx="4023360" cy="2130552"/>
          </a:xfrm>
          <a:prstGeom prst="rect">
            <a:avLst/>
          </a:prstGeom>
        </p:spPr>
      </p:pic>
      <p:sp>
        <p:nvSpPr>
          <p:cNvPr id="5" name="Figure 1 caption"/>
          <p:cNvSpPr txBox="1"/>
          <p:nvPr/>
        </p:nvSpPr>
        <p:spPr>
          <a:xfrm>
            <a:off x="457200" y="3337560"/>
            <a:ext cx="4023360" cy="777240"/>
          </a:xfrm>
          <a:prstGeom prst="rect">
            <a:avLst/>
          </a:prstGeom>
          <a:noFill/>
          <a:ln/>
        </p:spPr>
        <p:txBody>
          <a:bodyPr wrap="square" lIns="0" tIns="0" rIns="0" bIns="0" rtlCol="0" anchor="t"/>
          <a:lstStyle/>
          <a:p>
            <a:pPr indent="0" marL="0">
              <a:buNone/>
            </a:pPr>
            <a:r>
              <a:rPr lang="en-US" sz="1200" b="1" dirty="0">
                <a:solidFill>
                  <a:schemeClr val="accent6"/>
                </a:solidFill>
              </a:rPr>
              <a:t>Figure 1. Top countries</a:t>
            </a:r>
            <a:endParaRPr lang="en-US" sz="1200" dirty="0"/>
          </a:p>
          <a:p>
            <a:pPr indent="0" marL="0">
              <a:buNone/>
            </a:pPr>
            <a:r>
              <a:rPr lang="en-US" sz="1400" dirty="0">
                <a:solidFill>
                  <a:schemeClr val="tx1"/>
                </a:solidFill>
              </a:rPr>
              <a:t>India leads with $568.0M, about 27.9% of the revenue field total.</a:t>
            </a:r>
            <a:endParaRPr lang="en-US" sz="1200" dirty="0"/>
          </a:p>
        </p:txBody>
      </p:sp>
      <p:sp>
        <p:nvSpPr>
          <p:cNvPr id="6" name="Figure 4 caption"/>
          <p:cNvSpPr txBox="1"/>
          <p:nvPr/>
        </p:nvSpPr>
        <p:spPr>
          <a:xfrm>
            <a:off x="4663440" y="3337560"/>
            <a:ext cx="4023360" cy="777240"/>
          </a:xfrm>
          <a:prstGeom prst="rect">
            <a:avLst/>
          </a:prstGeom>
          <a:noFill/>
          <a:ln/>
        </p:spPr>
        <p:txBody>
          <a:bodyPr wrap="square" lIns="0" tIns="0" rIns="0" bIns="0" rtlCol="0" anchor="t"/>
          <a:lstStyle/>
          <a:p>
            <a:pPr indent="0" marL="0">
              <a:buNone/>
            </a:pPr>
            <a:r>
              <a:rPr lang="en-US" sz="1200" b="1" dirty="0">
                <a:solidFill>
                  <a:schemeClr val="accent6"/>
                </a:solidFill>
              </a:rPr>
              <a:t>Figure 4. Monthly revenue</a:t>
            </a:r>
            <a:endParaRPr lang="en-US" sz="1200" dirty="0"/>
          </a:p>
          <a:p>
            <a:pPr indent="0" marL="0">
              <a:buNone/>
            </a:pPr>
            <a:r>
              <a:rPr lang="en-US" sz="1400" dirty="0">
                <a:solidFill>
                  <a:schemeClr val="tx1"/>
                </a:solidFill>
              </a:rPr>
              <a:t>Monthly totals move between roughly $52M and $70M, with no clear trend.</a:t>
            </a:r>
            <a:endParaRPr lang="en-US" sz="1200" dirty="0"/>
          </a:p>
        </p:txBody>
      </p:sp>
      <p:sp>
        <p:nvSpPr>
          <p:cNvPr id="7" name="Caution banner"/>
          <p:cNvSpPr/>
          <p:nvPr/>
        </p:nvSpPr>
        <p:spPr>
          <a:xfrm>
            <a:off x="457200" y="4206240"/>
            <a:ext cx="8229600" cy="411480"/>
          </a:xfrm>
          <a:prstGeom prst="roundRect">
            <a:avLst>
              <a:gd name="adj" fmla="val 22222"/>
            </a:avLst>
          </a:prstGeom>
          <a:solidFill>
            <a:schemeClr val="accent2">
              <a:alpha val="20000"/>
            </a:schemeClr>
          </a:solidFill>
          <a:ln/>
        </p:spPr>
        <p:txBody>
          <a:bodyPr wrap="square" lIns="0" tIns="0" rIns="0" bIns="0" rtlCol="0" anchor="ctr"/>
          <a:lstStyle/>
          <a:p>
            <a:pPr algn="ctr" indent="0" marL="0">
              <a:buNone/>
            </a:pPr>
            <a:r>
              <a:rPr lang="en-US" sz="1400" i="1" dirty="0">
                <a:solidFill>
                  <a:schemeClr val="tx1"/>
                </a:solidFill>
              </a:rPr>
              <a:t>Rankings and trends describe the synthetic file only: no demand or seasonality claims.</a:t>
            </a:r>
            <a:endParaRPr lang="en-US" sz="14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Databricks, Spark and Delta Lake</a:t>
            </a:r>
            <a:endParaRPr lang="en-US" sz="2800" dirty="0"/>
          </a:p>
        </p:txBody>
      </p:sp>
      <p:sp>
        <p:nvSpPr>
          <p:cNvPr id="3" name="Layer card Bronze"/>
          <p:cNvSpPr/>
          <p:nvPr/>
        </p:nvSpPr>
        <p:spPr>
          <a:xfrm>
            <a:off x="457200" y="1097280"/>
            <a:ext cx="2286000" cy="1371600"/>
          </a:xfrm>
          <a:prstGeom prst="roundRect">
            <a:avLst>
              <a:gd name="adj" fmla="val 8000"/>
            </a:avLst>
          </a:prstGeom>
          <a:solidFill>
            <a:schemeClr val="bg2"/>
          </a:solidFill>
          <a:ln/>
        </p:spPr>
      </p:sp>
      <p:sp>
        <p:nvSpPr>
          <p:cNvPr id="4" name="Layer badge Bronze"/>
          <p:cNvSpPr/>
          <p:nvPr/>
        </p:nvSpPr>
        <p:spPr>
          <a:xfrm>
            <a:off x="594360" y="1234440"/>
            <a:ext cx="411480" cy="411480"/>
          </a:xfrm>
          <a:prstGeom prst="ellipse">
            <a:avLst/>
          </a:prstGeom>
          <a:solidFill>
            <a:schemeClr val="accent5"/>
          </a:solidFill>
          <a:ln/>
        </p:spPr>
        <p:txBody>
          <a:bodyPr wrap="square" lIns="0" tIns="0" rIns="0" bIns="0" rtlCol="0" anchor="ctr"/>
          <a:lstStyle/>
          <a:p>
            <a:pPr algn="ctr" indent="0" marL="0">
              <a:buNone/>
            </a:pPr>
            <a:r>
              <a:rPr lang="en-US" sz="1600" b="1" dirty="0">
                <a:solidFill>
                  <a:schemeClr val="bg1"/>
                </a:solidFill>
              </a:rPr>
              <a:t>B</a:t>
            </a:r>
            <a:endParaRPr lang="en-US" sz="1600" dirty="0"/>
          </a:p>
        </p:txBody>
      </p:sp>
      <p:sp>
        <p:nvSpPr>
          <p:cNvPr id="5" name="Layer title Bronze"/>
          <p:cNvSpPr txBox="1"/>
          <p:nvPr/>
        </p:nvSpPr>
        <p:spPr>
          <a:xfrm>
            <a:off x="1097280" y="1234440"/>
            <a:ext cx="1554480" cy="411480"/>
          </a:xfrm>
          <a:prstGeom prst="rect">
            <a:avLst/>
          </a:prstGeom>
          <a:noFill/>
          <a:ln/>
        </p:spPr>
        <p:txBody>
          <a:bodyPr wrap="square" lIns="0" tIns="0" rIns="0" bIns="0" rtlCol="0" anchor="ctr"/>
          <a:lstStyle/>
          <a:p>
            <a:pPr indent="0" marL="0">
              <a:buNone/>
            </a:pPr>
            <a:r>
              <a:rPr lang="en-US" sz="1800" b="1" dirty="0">
                <a:solidFill>
                  <a:schemeClr val="tx1"/>
                </a:solidFill>
              </a:rPr>
              <a:t>Bronze</a:t>
            </a:r>
            <a:endParaRPr lang="en-US" sz="1800" dirty="0"/>
          </a:p>
        </p:txBody>
      </p:sp>
      <p:sp>
        <p:nvSpPr>
          <p:cNvPr id="6" name="Layer text Bronze"/>
          <p:cNvSpPr txBox="1"/>
          <p:nvPr/>
        </p:nvSpPr>
        <p:spPr>
          <a:xfrm>
            <a:off x="594360" y="1737360"/>
            <a:ext cx="2011680" cy="640080"/>
          </a:xfrm>
          <a:prstGeom prst="rect">
            <a:avLst/>
          </a:prstGeom>
          <a:noFill/>
          <a:ln/>
        </p:spPr>
        <p:txBody>
          <a:bodyPr wrap="square" lIns="0" tIns="0" rIns="0" bIns="0" rtlCol="0" anchor="t"/>
          <a:lstStyle/>
          <a:p>
            <a:pPr indent="0" marL="0">
              <a:buNone/>
            </a:pPr>
            <a:r>
              <a:rPr lang="en-US" sz="1400" dirty="0">
                <a:solidFill>
                  <a:schemeClr val="tx1"/>
                </a:solidFill>
              </a:rPr>
              <a:t>Raw records plus ingestion metadata</a:t>
            </a:r>
            <a:endParaRPr lang="en-US" sz="1400" dirty="0"/>
          </a:p>
        </p:txBody>
      </p:sp>
      <p:sp>
        <p:nvSpPr>
          <p:cNvPr id="7" name="Arrow 1"/>
          <p:cNvSpPr/>
          <p:nvPr/>
        </p:nvSpPr>
        <p:spPr>
          <a:xfrm>
            <a:off x="2834640" y="1645920"/>
            <a:ext cx="502920" cy="274320"/>
          </a:xfrm>
          <a:prstGeom prst="rightArrow">
            <a:avLst/>
          </a:prstGeom>
          <a:solidFill>
            <a:schemeClr val="accent6"/>
          </a:solidFill>
          <a:ln/>
        </p:spPr>
      </p:sp>
      <p:sp>
        <p:nvSpPr>
          <p:cNvPr id="8" name="Layer card Silver"/>
          <p:cNvSpPr/>
          <p:nvPr/>
        </p:nvSpPr>
        <p:spPr>
          <a:xfrm>
            <a:off x="3429000" y="1097280"/>
            <a:ext cx="2286000" cy="1371600"/>
          </a:xfrm>
          <a:prstGeom prst="roundRect">
            <a:avLst>
              <a:gd name="adj" fmla="val 8000"/>
            </a:avLst>
          </a:prstGeom>
          <a:solidFill>
            <a:schemeClr val="bg2"/>
          </a:solidFill>
          <a:ln/>
        </p:spPr>
      </p:sp>
      <p:sp>
        <p:nvSpPr>
          <p:cNvPr id="9" name="Layer badge Silver"/>
          <p:cNvSpPr/>
          <p:nvPr/>
        </p:nvSpPr>
        <p:spPr>
          <a:xfrm>
            <a:off x="3566160" y="1234440"/>
            <a:ext cx="411480" cy="411480"/>
          </a:xfrm>
          <a:prstGeom prst="ellipse">
            <a:avLst/>
          </a:prstGeom>
          <a:solidFill>
            <a:schemeClr val="accent6"/>
          </a:solidFill>
          <a:ln/>
        </p:spPr>
        <p:txBody>
          <a:bodyPr wrap="square" lIns="0" tIns="0" rIns="0" bIns="0" rtlCol="0" anchor="ctr"/>
          <a:lstStyle/>
          <a:p>
            <a:pPr algn="ctr" indent="0" marL="0">
              <a:buNone/>
            </a:pPr>
            <a:r>
              <a:rPr lang="en-US" sz="1600" b="1" dirty="0">
                <a:solidFill>
                  <a:schemeClr val="bg1"/>
                </a:solidFill>
              </a:rPr>
              <a:t>S</a:t>
            </a:r>
            <a:endParaRPr lang="en-US" sz="1600" dirty="0"/>
          </a:p>
        </p:txBody>
      </p:sp>
      <p:sp>
        <p:nvSpPr>
          <p:cNvPr id="10" name="Layer title Silver"/>
          <p:cNvSpPr txBox="1"/>
          <p:nvPr/>
        </p:nvSpPr>
        <p:spPr>
          <a:xfrm>
            <a:off x="4069080" y="1234440"/>
            <a:ext cx="1554480" cy="411480"/>
          </a:xfrm>
          <a:prstGeom prst="rect">
            <a:avLst/>
          </a:prstGeom>
          <a:noFill/>
          <a:ln/>
        </p:spPr>
        <p:txBody>
          <a:bodyPr wrap="square" lIns="0" tIns="0" rIns="0" bIns="0" rtlCol="0" anchor="ctr"/>
          <a:lstStyle/>
          <a:p>
            <a:pPr indent="0" marL="0">
              <a:buNone/>
            </a:pPr>
            <a:r>
              <a:rPr lang="en-US" sz="1800" b="1" dirty="0">
                <a:solidFill>
                  <a:schemeClr val="tx1"/>
                </a:solidFill>
              </a:rPr>
              <a:t>Silver</a:t>
            </a:r>
            <a:endParaRPr lang="en-US" sz="1800" dirty="0"/>
          </a:p>
        </p:txBody>
      </p:sp>
      <p:sp>
        <p:nvSpPr>
          <p:cNvPr id="11" name="Layer text Silver"/>
          <p:cNvSpPr txBox="1"/>
          <p:nvPr/>
        </p:nvSpPr>
        <p:spPr>
          <a:xfrm>
            <a:off x="3566160" y="1737360"/>
            <a:ext cx="2011680" cy="640080"/>
          </a:xfrm>
          <a:prstGeom prst="rect">
            <a:avLst/>
          </a:prstGeom>
          <a:noFill/>
          <a:ln/>
        </p:spPr>
        <p:txBody>
          <a:bodyPr wrap="square" lIns="0" tIns="0" rIns="0" bIns="0" rtlCol="0" anchor="t"/>
          <a:lstStyle/>
          <a:p>
            <a:pPr indent="0" marL="0">
              <a:buNone/>
            </a:pPr>
            <a:r>
              <a:rPr lang="en-US" sz="1400" dirty="0">
                <a:solidFill>
                  <a:schemeClr val="tx1"/>
                </a:solidFill>
              </a:rPr>
              <a:t>Typed, standardised and quality-flagged</a:t>
            </a:r>
            <a:endParaRPr lang="en-US" sz="1400" dirty="0"/>
          </a:p>
        </p:txBody>
      </p:sp>
      <p:sp>
        <p:nvSpPr>
          <p:cNvPr id="12" name="Arrow 2"/>
          <p:cNvSpPr/>
          <p:nvPr/>
        </p:nvSpPr>
        <p:spPr>
          <a:xfrm>
            <a:off x="5806440" y="1645920"/>
            <a:ext cx="502920" cy="274320"/>
          </a:xfrm>
          <a:prstGeom prst="rightArrow">
            <a:avLst/>
          </a:prstGeom>
          <a:solidFill>
            <a:schemeClr val="accent6"/>
          </a:solidFill>
          <a:ln/>
        </p:spPr>
      </p:sp>
      <p:sp>
        <p:nvSpPr>
          <p:cNvPr id="13" name="Layer card Gold"/>
          <p:cNvSpPr/>
          <p:nvPr/>
        </p:nvSpPr>
        <p:spPr>
          <a:xfrm>
            <a:off x="6400800" y="1097280"/>
            <a:ext cx="2286000" cy="1371600"/>
          </a:xfrm>
          <a:prstGeom prst="roundRect">
            <a:avLst>
              <a:gd name="adj" fmla="val 8000"/>
            </a:avLst>
          </a:prstGeom>
          <a:solidFill>
            <a:schemeClr val="bg2"/>
          </a:solidFill>
          <a:ln/>
        </p:spPr>
      </p:sp>
      <p:sp>
        <p:nvSpPr>
          <p:cNvPr id="14" name="Layer badge Gold"/>
          <p:cNvSpPr/>
          <p:nvPr/>
        </p:nvSpPr>
        <p:spPr>
          <a:xfrm>
            <a:off x="6537960" y="1234440"/>
            <a:ext cx="411480" cy="411480"/>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tx1"/>
                </a:solidFill>
              </a:rPr>
              <a:t>G</a:t>
            </a:r>
            <a:endParaRPr lang="en-US" sz="1600" dirty="0"/>
          </a:p>
        </p:txBody>
      </p:sp>
      <p:sp>
        <p:nvSpPr>
          <p:cNvPr id="15" name="Layer title Gold"/>
          <p:cNvSpPr txBox="1"/>
          <p:nvPr/>
        </p:nvSpPr>
        <p:spPr>
          <a:xfrm>
            <a:off x="7040880" y="1234440"/>
            <a:ext cx="1554480" cy="411480"/>
          </a:xfrm>
          <a:prstGeom prst="rect">
            <a:avLst/>
          </a:prstGeom>
          <a:noFill/>
          <a:ln/>
        </p:spPr>
        <p:txBody>
          <a:bodyPr wrap="square" lIns="0" tIns="0" rIns="0" bIns="0" rtlCol="0" anchor="ctr"/>
          <a:lstStyle/>
          <a:p>
            <a:pPr indent="0" marL="0">
              <a:buNone/>
            </a:pPr>
            <a:r>
              <a:rPr lang="en-US" sz="1800" b="1" dirty="0">
                <a:solidFill>
                  <a:schemeClr val="tx1"/>
                </a:solidFill>
              </a:rPr>
              <a:t>Gold</a:t>
            </a:r>
            <a:endParaRPr lang="en-US" sz="1800" dirty="0"/>
          </a:p>
        </p:txBody>
      </p:sp>
      <p:sp>
        <p:nvSpPr>
          <p:cNvPr id="16" name="Layer text Gold"/>
          <p:cNvSpPr txBox="1"/>
          <p:nvPr/>
        </p:nvSpPr>
        <p:spPr>
          <a:xfrm>
            <a:off x="6537960" y="1737360"/>
            <a:ext cx="2011680" cy="640080"/>
          </a:xfrm>
          <a:prstGeom prst="rect">
            <a:avLst/>
          </a:prstGeom>
          <a:noFill/>
          <a:ln/>
        </p:spPr>
        <p:txBody>
          <a:bodyPr wrap="square" lIns="0" tIns="0" rIns="0" bIns="0" rtlCol="0" anchor="t"/>
          <a:lstStyle/>
          <a:p>
            <a:pPr indent="0" marL="0">
              <a:buNone/>
            </a:pPr>
            <a:r>
              <a:rPr lang="en-US" sz="1400" dirty="0">
                <a:solidFill>
                  <a:schemeClr val="tx1"/>
                </a:solidFill>
              </a:rPr>
              <a:t>KPI tables by month, country, industry</a:t>
            </a:r>
            <a:endParaRPr lang="en-US" sz="1400" dirty="0"/>
          </a:p>
        </p:txBody>
      </p:sp>
      <p:sp>
        <p:nvSpPr>
          <p:cNvPr id="17" name="PySpark code block"/>
          <p:cNvSpPr/>
          <p:nvPr/>
        </p:nvSpPr>
        <p:spPr>
          <a:xfrm>
            <a:off x="457200" y="2697480"/>
            <a:ext cx="8229600" cy="1783080"/>
          </a:xfrm>
          <a:prstGeom prst="roundRect">
            <a:avLst>
              <a:gd name="adj" fmla="val 5128"/>
            </a:avLst>
          </a:prstGeom>
          <a:solidFill>
            <a:schemeClr val="tx2"/>
          </a:solidFill>
          <a:ln/>
        </p:spPr>
        <p:txBody>
          <a:bodyPr wrap="square" lIns="127000" tIns="152400" rIns="152400" bIns="127000" rtlCol="0" anchor="t"/>
          <a:lstStyle/>
          <a:p>
            <a:pPr algn="l" indent="0" marL="0">
              <a:buNone/>
            </a:pPr>
            <a:r>
              <a:rPr lang="en-US" sz="1100" dirty="0">
                <a:solidFill>
                  <a:schemeClr val="bg2"/>
                </a:solidFill>
                <a:latin typeface="Courier New" pitchFamily="34" charset="0"/>
                <a:ea typeface="Courier New" pitchFamily="34" charset="-122"/>
                <a:cs typeface="Courier New" pitchFamily="34" charset="-120"/>
              </a:rPr>
              <a:t># Bronze: read the raw CSV and store it as Delta</a:t>
            </a:r>
            <a:endParaRPr lang="en-US" sz="1100" dirty="0"/>
          </a:p>
          <a:p>
            <a:pPr algn="l" indent="0" marL="0">
              <a:buNone/>
            </a:pPr>
            <a:r>
              <a:rPr lang="en-US" sz="1100" dirty="0">
                <a:solidFill>
                  <a:schemeClr val="bg2"/>
                </a:solidFill>
                <a:latin typeface="Courier New" pitchFamily="34" charset="0"/>
                <a:ea typeface="Courier New" pitchFamily="34" charset="-122"/>
                <a:cs typeface="Courier New" pitchFamily="34" charset="-120"/>
              </a:rPr>
              <a:t>raw = spark.read.option('header', True).option('inferSchema', True).csv(input_path)</a:t>
            </a:r>
            <a:endParaRPr lang="en-US" sz="1100" dirty="0"/>
          </a:p>
          <a:p>
            <a:pPr algn="l" indent="0" marL="0">
              <a:buNone/>
            </a:pPr>
            <a:r>
              <a:rPr lang="en-US" sz="1100" dirty="0">
                <a:solidFill>
                  <a:schemeClr val="bg2"/>
                </a:solidFill>
                <a:latin typeface="Courier New" pitchFamily="34" charset="0"/>
                <a:ea typeface="Courier New" pitchFamily="34" charset="-122"/>
                <a:cs typeface="Courier New" pitchFamily="34" charset="-120"/>
              </a:rPr>
              <a:t>raw.write.format('delta').mode('overwrite').save(bronze_path)</a:t>
            </a:r>
            <a:endParaRPr lang="en-US" sz="1100" dirty="0"/>
          </a:p>
          <a:p>
            <a:pPr algn="l" indent="0" marL="0">
              <a:buNone/>
            </a:pPr>
            <a:endParaRPr lang="en-US" sz="1100" dirty="0"/>
          </a:p>
          <a:p>
            <a:pPr algn="l" indent="0" marL="0">
              <a:buNone/>
            </a:pPr>
            <a:r>
              <a:rPr lang="en-US" sz="1100" dirty="0">
                <a:solidFill>
                  <a:schemeClr val="bg2"/>
                </a:solidFill>
                <a:latin typeface="Courier New" pitchFamily="34" charset="0"/>
                <a:ea typeface="Courier New" pitchFamily="34" charset="-122"/>
                <a:cs typeface="Courier New" pitchFamily="34" charset="-120"/>
              </a:rPr>
              <a:t># Gold: revenue and profit by country</a:t>
            </a:r>
            <a:endParaRPr lang="en-US" sz="1100" dirty="0"/>
          </a:p>
          <a:p>
            <a:pPr algn="l" indent="0" marL="0">
              <a:buNone/>
            </a:pPr>
            <a:r>
              <a:rPr lang="en-US" sz="1100" dirty="0">
                <a:solidFill>
                  <a:schemeClr val="bg2"/>
                </a:solidFill>
                <a:latin typeface="Courier New" pitchFamily="34" charset="0"/>
                <a:ea typeface="Courier New" pitchFamily="34" charset="-122"/>
                <a:cs typeface="Courier New" pitchFamily="34" charset="-120"/>
              </a:rPr>
              <a:t>gold_country = (silver.groupBy('country_name')</a:t>
            </a:r>
            <a:endParaRPr lang="en-US" sz="1100" dirty="0"/>
          </a:p>
          <a:p>
            <a:pPr algn="l" indent="0" marL="0">
              <a:buNone/>
            </a:pPr>
            <a:r>
              <a:rPr lang="en-US" sz="1100" dirty="0">
                <a:solidFill>
                  <a:schemeClr val="bg2"/>
                </a:solidFill>
                <a:latin typeface="Courier New" pitchFamily="34" charset="0"/>
                <a:ea typeface="Courier New" pitchFamily="34" charset="-122"/>
                <a:cs typeface="Courier New" pitchFamily="34" charset="-120"/>
              </a:rPr>
              <a:t>    .agg(F.sum('revenue_usd').alias('synthetic_revenue_total'),</a:t>
            </a:r>
            <a:endParaRPr lang="en-US" sz="1100" dirty="0"/>
          </a:p>
          <a:p>
            <a:pPr algn="l" indent="0" marL="0">
              <a:buNone/>
            </a:pPr>
            <a:r>
              <a:rPr lang="en-US" sz="1100" dirty="0">
                <a:solidFill>
                  <a:schemeClr val="bg2"/>
                </a:solidFill>
                <a:latin typeface="Courier New" pitchFamily="34" charset="0"/>
                <a:ea typeface="Courier New" pitchFamily="34" charset="-122"/>
                <a:cs typeface="Courier New" pitchFamily="34" charset="-120"/>
              </a:rPr>
              <a:t>         F.sum('estimated_gross_profit_usd').alias('estimated_profit_total')))</a:t>
            </a:r>
            <a:endParaRPr lang="en-US" sz="11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Building the Power BI Dashboard</a:t>
            </a:r>
            <a:endParaRPr lang="en-US" sz="2800" dirty="0"/>
          </a:p>
        </p:txBody>
      </p:sp>
      <p:sp>
        <p:nvSpPr>
          <p:cNvPr id="3" name="Build step number 1"/>
          <p:cNvSpPr/>
          <p:nvPr/>
        </p:nvSpPr>
        <p:spPr>
          <a:xfrm>
            <a:off x="457200" y="1161288"/>
            <a:ext cx="365760" cy="36576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4" name="Build step text 1"/>
          <p:cNvSpPr txBox="1"/>
          <p:nvPr/>
        </p:nvSpPr>
        <p:spPr>
          <a:xfrm>
            <a:off x="960120" y="1097280"/>
            <a:ext cx="2743200" cy="493776"/>
          </a:xfrm>
          <a:prstGeom prst="rect">
            <a:avLst/>
          </a:prstGeom>
          <a:noFill/>
          <a:ln/>
        </p:spPr>
        <p:txBody>
          <a:bodyPr wrap="square" lIns="0" tIns="0" rIns="0" bIns="0" rtlCol="0" anchor="ctr"/>
          <a:lstStyle/>
          <a:p>
            <a:pPr indent="0" marL="0">
              <a:buNone/>
            </a:pPr>
            <a:r>
              <a:rPr lang="en-US" sz="1400" dirty="0">
                <a:solidFill>
                  <a:schemeClr val="tx1"/>
                </a:solidFill>
              </a:rPr>
              <a:t>Get Data: import the CSV</a:t>
            </a:r>
            <a:endParaRPr lang="en-US" sz="1400" dirty="0"/>
          </a:p>
        </p:txBody>
      </p:sp>
      <p:sp>
        <p:nvSpPr>
          <p:cNvPr id="5" name="Build step number 2"/>
          <p:cNvSpPr/>
          <p:nvPr/>
        </p:nvSpPr>
        <p:spPr>
          <a:xfrm>
            <a:off x="457200" y="1764792"/>
            <a:ext cx="365760" cy="36576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6" name="Build step text 2"/>
          <p:cNvSpPr txBox="1"/>
          <p:nvPr/>
        </p:nvSpPr>
        <p:spPr>
          <a:xfrm>
            <a:off x="960120" y="1700784"/>
            <a:ext cx="2743200" cy="493776"/>
          </a:xfrm>
          <a:prstGeom prst="rect">
            <a:avLst/>
          </a:prstGeom>
          <a:noFill/>
          <a:ln/>
        </p:spPr>
        <p:txBody>
          <a:bodyPr wrap="square" lIns="0" tIns="0" rIns="0" bIns="0" rtlCol="0" anchor="ctr"/>
          <a:lstStyle/>
          <a:p>
            <a:pPr indent="0" marL="0">
              <a:buNone/>
            </a:pPr>
            <a:r>
              <a:rPr lang="en-US" sz="1400" dirty="0">
                <a:solidFill>
                  <a:schemeClr val="tx1"/>
                </a:solidFill>
              </a:rPr>
              <a:t>Power Query: set data types and parse dates day-first</a:t>
            </a:r>
            <a:endParaRPr lang="en-US" sz="1400" dirty="0"/>
          </a:p>
        </p:txBody>
      </p:sp>
      <p:sp>
        <p:nvSpPr>
          <p:cNvPr id="7" name="Build step number 3"/>
          <p:cNvSpPr/>
          <p:nvPr/>
        </p:nvSpPr>
        <p:spPr>
          <a:xfrm>
            <a:off x="457200" y="2368296"/>
            <a:ext cx="365760" cy="36576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8" name="Build step text 3"/>
          <p:cNvSpPr txBox="1"/>
          <p:nvPr/>
        </p:nvSpPr>
        <p:spPr>
          <a:xfrm>
            <a:off x="960120" y="2304288"/>
            <a:ext cx="2743200" cy="493776"/>
          </a:xfrm>
          <a:prstGeom prst="rect">
            <a:avLst/>
          </a:prstGeom>
          <a:noFill/>
          <a:ln/>
        </p:spPr>
        <p:txBody>
          <a:bodyPr wrap="square" lIns="0" tIns="0" rIns="0" bIns="0" rtlCol="0" anchor="ctr"/>
          <a:lstStyle/>
          <a:p>
            <a:pPr indent="0" marL="0">
              <a:buNone/>
            </a:pPr>
            <a:r>
              <a:rPr lang="en-US" sz="1400" dirty="0">
                <a:solidFill>
                  <a:schemeClr val="tx1"/>
                </a:solidFill>
              </a:rPr>
              <a:t>Model: one table named RoboticsMarket</a:t>
            </a:r>
            <a:endParaRPr lang="en-US" sz="1400" dirty="0"/>
          </a:p>
        </p:txBody>
      </p:sp>
      <p:sp>
        <p:nvSpPr>
          <p:cNvPr id="9" name="Build step number 4"/>
          <p:cNvSpPr/>
          <p:nvPr/>
        </p:nvSpPr>
        <p:spPr>
          <a:xfrm>
            <a:off x="457200" y="2971800"/>
            <a:ext cx="365760" cy="36576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10" name="Build step text 4"/>
          <p:cNvSpPr txBox="1"/>
          <p:nvPr/>
        </p:nvSpPr>
        <p:spPr>
          <a:xfrm>
            <a:off x="960120" y="2907792"/>
            <a:ext cx="2743200" cy="493776"/>
          </a:xfrm>
          <a:prstGeom prst="rect">
            <a:avLst/>
          </a:prstGeom>
          <a:noFill/>
          <a:ln/>
        </p:spPr>
        <p:txBody>
          <a:bodyPr wrap="square" lIns="0" tIns="0" rIns="0" bIns="0" rtlCol="0" anchor="ctr"/>
          <a:lstStyle/>
          <a:p>
            <a:pPr indent="0" marL="0">
              <a:buNone/>
            </a:pPr>
            <a:r>
              <a:rPr lang="en-US" sz="1400" dirty="0">
                <a:solidFill>
                  <a:schemeClr val="tx1"/>
                </a:solidFill>
              </a:rPr>
              <a:t>DAX: create four KPI measures</a:t>
            </a:r>
            <a:endParaRPr lang="en-US" sz="1400" dirty="0"/>
          </a:p>
        </p:txBody>
      </p:sp>
      <p:sp>
        <p:nvSpPr>
          <p:cNvPr id="11" name="Build step number 5"/>
          <p:cNvSpPr/>
          <p:nvPr/>
        </p:nvSpPr>
        <p:spPr>
          <a:xfrm>
            <a:off x="457200" y="3575304"/>
            <a:ext cx="365760" cy="36576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tx1"/>
                </a:solidFill>
              </a:rPr>
              <a:t>5</a:t>
            </a:r>
            <a:endParaRPr lang="en-US" sz="1400" dirty="0"/>
          </a:p>
        </p:txBody>
      </p:sp>
      <p:sp>
        <p:nvSpPr>
          <p:cNvPr id="12" name="Build step text 5"/>
          <p:cNvSpPr txBox="1"/>
          <p:nvPr/>
        </p:nvSpPr>
        <p:spPr>
          <a:xfrm>
            <a:off x="960120" y="3511296"/>
            <a:ext cx="2743200" cy="493776"/>
          </a:xfrm>
          <a:prstGeom prst="rect">
            <a:avLst/>
          </a:prstGeom>
          <a:noFill/>
          <a:ln/>
        </p:spPr>
        <p:txBody>
          <a:bodyPr wrap="square" lIns="0" tIns="0" rIns="0" bIns="0" rtlCol="0" anchor="ctr"/>
          <a:lstStyle/>
          <a:p>
            <a:pPr indent="0" marL="0">
              <a:buNone/>
            </a:pPr>
            <a:r>
              <a:rPr lang="en-US" sz="1400" dirty="0">
                <a:solidFill>
                  <a:schemeClr val="tx1"/>
                </a:solidFill>
              </a:rPr>
              <a:t>Build visuals and add slicers</a:t>
            </a:r>
            <a:endParaRPr lang="en-US" sz="1400" dirty="0"/>
          </a:p>
        </p:txBody>
      </p:sp>
      <p:sp>
        <p:nvSpPr>
          <p:cNvPr id="13" name="DAX code block"/>
          <p:cNvSpPr/>
          <p:nvPr/>
        </p:nvSpPr>
        <p:spPr>
          <a:xfrm>
            <a:off x="3840480" y="1097280"/>
            <a:ext cx="4846320" cy="2926080"/>
          </a:xfrm>
          <a:prstGeom prst="roundRect">
            <a:avLst>
              <a:gd name="adj" fmla="val 3125"/>
            </a:avLst>
          </a:prstGeom>
          <a:solidFill>
            <a:schemeClr val="tx2"/>
          </a:solidFill>
          <a:ln/>
        </p:spPr>
        <p:txBody>
          <a:bodyPr wrap="square" lIns="127000" tIns="152400" rIns="152400" bIns="127000" rtlCol="0" anchor="t"/>
          <a:lstStyle/>
          <a:p>
            <a:pPr algn="l" indent="0" marL="0">
              <a:buNone/>
            </a:pPr>
            <a:r>
              <a:rPr lang="en-US" sz="1100" dirty="0">
                <a:solidFill>
                  <a:schemeClr val="bg2"/>
                </a:solidFill>
                <a:latin typeface="Courier New" pitchFamily="34" charset="0"/>
                <a:ea typeface="Courier New" pitchFamily="34" charset="-122"/>
                <a:cs typeface="Courier New" pitchFamily="34" charset="-120"/>
              </a:rPr>
              <a:t>Record Count = COUNTROWS('RoboticsMarket')</a:t>
            </a:r>
            <a:endParaRPr lang="en-US" sz="1100" dirty="0"/>
          </a:p>
          <a:p>
            <a:pPr algn="l" indent="0" marL="0">
              <a:buNone/>
            </a:pPr>
            <a:endParaRPr lang="en-US" sz="1100" dirty="0"/>
          </a:p>
          <a:p>
            <a:pPr algn="l" indent="0" marL="0">
              <a:buNone/>
            </a:pPr>
            <a:r>
              <a:rPr lang="en-US" sz="1100" dirty="0">
                <a:solidFill>
                  <a:schemeClr val="bg2"/>
                </a:solidFill>
                <a:latin typeface="Courier New" pitchFamily="34" charset="0"/>
                <a:ea typeface="Courier New" pitchFamily="34" charset="-122"/>
                <a:cs typeface="Courier New" pitchFamily="34" charset="-120"/>
              </a:rPr>
              <a:t>Synthetic Revenue Total =</a:t>
            </a:r>
            <a:endParaRPr lang="en-US" sz="1100" dirty="0"/>
          </a:p>
          <a:p>
            <a:pPr algn="l" indent="0" marL="0">
              <a:buNone/>
            </a:pPr>
            <a:r>
              <a:rPr lang="en-US" sz="1100" dirty="0">
                <a:solidFill>
                  <a:schemeClr val="bg2"/>
                </a:solidFill>
                <a:latin typeface="Courier New" pitchFamily="34" charset="0"/>
                <a:ea typeface="Courier New" pitchFamily="34" charset="-122"/>
                <a:cs typeface="Courier New" pitchFamily="34" charset="-120"/>
              </a:rPr>
              <a:t>    SUM('RoboticsMarket'[revenue_usd])</a:t>
            </a:r>
            <a:endParaRPr lang="en-US" sz="1100" dirty="0"/>
          </a:p>
          <a:p>
            <a:pPr algn="l" indent="0" marL="0">
              <a:buNone/>
            </a:pPr>
            <a:endParaRPr lang="en-US" sz="1100" dirty="0"/>
          </a:p>
          <a:p>
            <a:pPr algn="l" indent="0" marL="0">
              <a:buNone/>
            </a:pPr>
            <a:r>
              <a:rPr lang="en-US" sz="1100" dirty="0">
                <a:solidFill>
                  <a:schemeClr val="bg2"/>
                </a:solidFill>
                <a:latin typeface="Courier New" pitchFamily="34" charset="0"/>
                <a:ea typeface="Courier New" pitchFamily="34" charset="-122"/>
                <a:cs typeface="Courier New" pitchFamily="34" charset="-120"/>
              </a:rPr>
              <a:t>Estimated Gross Profit Total =</a:t>
            </a:r>
            <a:endParaRPr lang="en-US" sz="1100" dirty="0"/>
          </a:p>
          <a:p>
            <a:pPr algn="l" indent="0" marL="0">
              <a:buNone/>
            </a:pPr>
            <a:r>
              <a:rPr lang="en-US" sz="1100" dirty="0">
                <a:solidFill>
                  <a:schemeClr val="bg2"/>
                </a:solidFill>
                <a:latin typeface="Courier New" pitchFamily="34" charset="0"/>
                <a:ea typeface="Courier New" pitchFamily="34" charset="-122"/>
                <a:cs typeface="Courier New" pitchFamily="34" charset="-120"/>
              </a:rPr>
              <a:t>    SUM('RoboticsMarket'[estimated_gross_profit_usd])</a:t>
            </a:r>
            <a:endParaRPr lang="en-US" sz="1100" dirty="0"/>
          </a:p>
          <a:p>
            <a:pPr algn="l" indent="0" marL="0">
              <a:buNone/>
            </a:pPr>
            <a:endParaRPr lang="en-US" sz="1100" dirty="0"/>
          </a:p>
          <a:p>
            <a:pPr algn="l" indent="0" marL="0">
              <a:buNone/>
            </a:pPr>
            <a:r>
              <a:rPr lang="en-US" sz="1100" dirty="0">
                <a:solidFill>
                  <a:schemeClr val="bg2"/>
                </a:solidFill>
                <a:latin typeface="Courier New" pitchFamily="34" charset="0"/>
                <a:ea typeface="Courier New" pitchFamily="34" charset="-122"/>
                <a:cs typeface="Courier New" pitchFamily="34" charset="-120"/>
              </a:rPr>
              <a:t>Estimated Gross Margin % =</a:t>
            </a:r>
            <a:endParaRPr lang="en-US" sz="1100" dirty="0"/>
          </a:p>
          <a:p>
            <a:pPr algn="l" indent="0" marL="0">
              <a:buNone/>
            </a:pPr>
            <a:r>
              <a:rPr lang="en-US" sz="1100" dirty="0">
                <a:solidFill>
                  <a:schemeClr val="bg2"/>
                </a:solidFill>
                <a:latin typeface="Courier New" pitchFamily="34" charset="0"/>
                <a:ea typeface="Courier New" pitchFamily="34" charset="-122"/>
                <a:cs typeface="Courier New" pitchFamily="34" charset="-120"/>
              </a:rPr>
              <a:t>    DIVIDE([Estimated Gross Profit Total],</a:t>
            </a:r>
            <a:endParaRPr lang="en-US" sz="1100" dirty="0"/>
          </a:p>
          <a:p>
            <a:pPr algn="l" indent="0" marL="0">
              <a:buNone/>
            </a:pPr>
            <a:r>
              <a:rPr lang="en-US" sz="1100" dirty="0">
                <a:solidFill>
                  <a:schemeClr val="bg2"/>
                </a:solidFill>
                <a:latin typeface="Courier New" pitchFamily="34" charset="0"/>
                <a:ea typeface="Courier New" pitchFamily="34" charset="-122"/>
                <a:cs typeface="Courier New" pitchFamily="34" charset="-120"/>
              </a:rPr>
              <a:t>           [Synthetic Revenue Total])</a:t>
            </a:r>
            <a:endParaRPr lang="en-US" sz="1100" dirty="0"/>
          </a:p>
        </p:txBody>
      </p:sp>
      <p:sp>
        <p:nvSpPr>
          <p:cNvPr id="14" name="Slicer banner"/>
          <p:cNvSpPr/>
          <p:nvPr/>
        </p:nvSpPr>
        <p:spPr>
          <a:xfrm>
            <a:off x="457200" y="4160520"/>
            <a:ext cx="8229600" cy="457200"/>
          </a:xfrm>
          <a:prstGeom prst="roundRect">
            <a:avLst>
              <a:gd name="adj" fmla="val 20000"/>
            </a:avLst>
          </a:prstGeom>
          <a:solidFill>
            <a:schemeClr val="tx2"/>
          </a:solidFill>
          <a:ln/>
        </p:spPr>
        <p:txBody>
          <a:bodyPr wrap="square" lIns="0" tIns="0" rIns="0" bIns="0" rtlCol="0" anchor="ctr"/>
          <a:lstStyle/>
          <a:p>
            <a:pPr algn="ctr" indent="0" marL="0">
              <a:buNone/>
            </a:pPr>
            <a:r>
              <a:rPr lang="en-US" sz="1400" b="1" dirty="0">
                <a:solidFill>
                  <a:schemeClr val="bg1"/>
                </a:solidFill>
              </a:rPr>
              <a:t>Slicers: order date, country, industry, product category, sales channel, verification status</a:t>
            </a:r>
            <a:endParaRPr lang="en-US" sz="14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Power BI Dashboard: Management View</a:t>
            </a:r>
            <a:endParaRPr lang="en-US" sz="2800" dirty="0"/>
          </a:p>
        </p:txBody>
      </p:sp>
      <p:sp>
        <p:nvSpPr>
          <p:cNvPr id="3" name="Dashboard note"/>
          <p:cNvSpPr txBox="1"/>
          <p:nvPr/>
        </p:nvSpPr>
        <p:spPr>
          <a:xfrm>
            <a:off x="457200" y="868680"/>
            <a:ext cx="8229600" cy="228600"/>
          </a:xfrm>
          <a:prstGeom prst="rect">
            <a:avLst/>
          </a:prstGeom>
          <a:noFill/>
          <a:ln/>
        </p:spPr>
        <p:txBody>
          <a:bodyPr wrap="square" lIns="0" tIns="0" rIns="0" bIns="0" rtlCol="0" anchor="ctr"/>
          <a:lstStyle/>
          <a:p>
            <a:pPr indent="0" marL="0">
              <a:buNone/>
            </a:pPr>
            <a:r>
              <a:rPr lang="en-US" sz="1100" i="1" dirty="0">
                <a:solidFill>
                  <a:schemeClr val="accent6"/>
                </a:solidFill>
              </a:rPr>
              <a:t>Dashboard prototype built from the report’s computed values (synthetic dataset; not verified market sales)</a:t>
            </a:r>
            <a:endParaRPr lang="en-US" sz="1100" dirty="0"/>
          </a:p>
        </p:txBody>
      </p:sp>
      <p:sp>
        <p:nvSpPr>
          <p:cNvPr id="4" name="KPI card Record Count"/>
          <p:cNvSpPr/>
          <p:nvPr/>
        </p:nvSpPr>
        <p:spPr>
          <a:xfrm>
            <a:off x="457200" y="1188720"/>
            <a:ext cx="1920240" cy="777240"/>
          </a:xfrm>
          <a:prstGeom prst="roundRect">
            <a:avLst>
              <a:gd name="adj" fmla="val 14118"/>
            </a:avLst>
          </a:prstGeom>
          <a:solidFill>
            <a:schemeClr val="bg2"/>
          </a:solidFill>
          <a:ln/>
        </p:spPr>
      </p:sp>
      <p:sp>
        <p:nvSpPr>
          <p:cNvPr id="5" name="KPI label Record Count"/>
          <p:cNvSpPr txBox="1"/>
          <p:nvPr/>
        </p:nvSpPr>
        <p:spPr>
          <a:xfrm>
            <a:off x="457200" y="1225296"/>
            <a:ext cx="1920240" cy="256032"/>
          </a:xfrm>
          <a:prstGeom prst="rect">
            <a:avLst/>
          </a:prstGeom>
          <a:noFill/>
          <a:ln/>
        </p:spPr>
        <p:txBody>
          <a:bodyPr wrap="square" lIns="0" tIns="0" rIns="0" bIns="0" rtlCol="0" anchor="ctr"/>
          <a:lstStyle/>
          <a:p>
            <a:pPr algn="ctr" indent="0" marL="0">
              <a:buNone/>
            </a:pPr>
            <a:r>
              <a:rPr lang="en-US" sz="1100" dirty="0">
                <a:solidFill>
                  <a:schemeClr val="accent6"/>
                </a:solidFill>
              </a:rPr>
              <a:t>Record Count</a:t>
            </a:r>
            <a:endParaRPr lang="en-US" sz="1100" dirty="0"/>
          </a:p>
        </p:txBody>
      </p:sp>
      <p:sp>
        <p:nvSpPr>
          <p:cNvPr id="6" name="KPI value Record Count"/>
          <p:cNvSpPr txBox="1"/>
          <p:nvPr/>
        </p:nvSpPr>
        <p:spPr>
          <a:xfrm>
            <a:off x="457200" y="1481328"/>
            <a:ext cx="1920240" cy="411480"/>
          </a:xfrm>
          <a:prstGeom prst="rect">
            <a:avLst/>
          </a:prstGeom>
          <a:noFill/>
          <a:ln/>
        </p:spPr>
        <p:txBody>
          <a:bodyPr wrap="square" lIns="0" tIns="0" rIns="0" bIns="0" rtlCol="0" anchor="ctr"/>
          <a:lstStyle/>
          <a:p>
            <a:pPr algn="ctr" indent="0" marL="0">
              <a:buNone/>
            </a:pPr>
            <a:r>
              <a:rPr lang="en-US" sz="2400" b="1" dirty="0">
                <a:solidFill>
                  <a:schemeClr val="tx1"/>
                </a:solidFill>
              </a:rPr>
              <a:t>50,000</a:t>
            </a:r>
            <a:endParaRPr lang="en-US" sz="2400" dirty="0"/>
          </a:p>
        </p:txBody>
      </p:sp>
      <p:sp>
        <p:nvSpPr>
          <p:cNvPr id="7" name="KPI card Synthetic Revenue Total"/>
          <p:cNvSpPr/>
          <p:nvPr/>
        </p:nvSpPr>
        <p:spPr>
          <a:xfrm>
            <a:off x="2560320" y="1188720"/>
            <a:ext cx="1920240" cy="777240"/>
          </a:xfrm>
          <a:prstGeom prst="roundRect">
            <a:avLst>
              <a:gd name="adj" fmla="val 14118"/>
            </a:avLst>
          </a:prstGeom>
          <a:solidFill>
            <a:schemeClr val="bg2"/>
          </a:solidFill>
          <a:ln/>
        </p:spPr>
      </p:sp>
      <p:sp>
        <p:nvSpPr>
          <p:cNvPr id="8" name="KPI label Synthetic Revenue Total"/>
          <p:cNvSpPr txBox="1"/>
          <p:nvPr/>
        </p:nvSpPr>
        <p:spPr>
          <a:xfrm>
            <a:off x="2560320" y="1225296"/>
            <a:ext cx="1920240" cy="256032"/>
          </a:xfrm>
          <a:prstGeom prst="rect">
            <a:avLst/>
          </a:prstGeom>
          <a:noFill/>
          <a:ln/>
        </p:spPr>
        <p:txBody>
          <a:bodyPr wrap="square" lIns="0" tIns="0" rIns="0" bIns="0" rtlCol="0" anchor="ctr"/>
          <a:lstStyle/>
          <a:p>
            <a:pPr algn="ctr" indent="0" marL="0">
              <a:buNone/>
            </a:pPr>
            <a:r>
              <a:rPr lang="en-US" sz="1100" dirty="0">
                <a:solidFill>
                  <a:schemeClr val="accent6"/>
                </a:solidFill>
              </a:rPr>
              <a:t>Synthetic Revenue Total</a:t>
            </a:r>
            <a:endParaRPr lang="en-US" sz="1100" dirty="0"/>
          </a:p>
        </p:txBody>
      </p:sp>
      <p:sp>
        <p:nvSpPr>
          <p:cNvPr id="9" name="KPI value Synthetic Revenue Total"/>
          <p:cNvSpPr txBox="1"/>
          <p:nvPr/>
        </p:nvSpPr>
        <p:spPr>
          <a:xfrm>
            <a:off x="2560320" y="1481328"/>
            <a:ext cx="1920240" cy="411480"/>
          </a:xfrm>
          <a:prstGeom prst="rect">
            <a:avLst/>
          </a:prstGeom>
          <a:noFill/>
          <a:ln/>
        </p:spPr>
        <p:txBody>
          <a:bodyPr wrap="square" lIns="0" tIns="0" rIns="0" bIns="0" rtlCol="0" anchor="ctr"/>
          <a:lstStyle/>
          <a:p>
            <a:pPr algn="ctr" indent="0" marL="0">
              <a:buNone/>
            </a:pPr>
            <a:r>
              <a:rPr lang="en-US" sz="2400" b="1" dirty="0">
                <a:solidFill>
                  <a:schemeClr val="tx1"/>
                </a:solidFill>
              </a:rPr>
              <a:t>$2.04B</a:t>
            </a:r>
            <a:endParaRPr lang="en-US" sz="2400" dirty="0"/>
          </a:p>
        </p:txBody>
      </p:sp>
      <p:sp>
        <p:nvSpPr>
          <p:cNvPr id="10" name="KPI card Est. Gross Profit Total"/>
          <p:cNvSpPr/>
          <p:nvPr/>
        </p:nvSpPr>
        <p:spPr>
          <a:xfrm>
            <a:off x="4663440" y="1188720"/>
            <a:ext cx="1920240" cy="777240"/>
          </a:xfrm>
          <a:prstGeom prst="roundRect">
            <a:avLst>
              <a:gd name="adj" fmla="val 14118"/>
            </a:avLst>
          </a:prstGeom>
          <a:solidFill>
            <a:schemeClr val="bg2"/>
          </a:solidFill>
          <a:ln/>
        </p:spPr>
      </p:sp>
      <p:sp>
        <p:nvSpPr>
          <p:cNvPr id="11" name="KPI label Est. Gross Profit Total"/>
          <p:cNvSpPr txBox="1"/>
          <p:nvPr/>
        </p:nvSpPr>
        <p:spPr>
          <a:xfrm>
            <a:off x="4663440" y="1225296"/>
            <a:ext cx="1920240" cy="256032"/>
          </a:xfrm>
          <a:prstGeom prst="rect">
            <a:avLst/>
          </a:prstGeom>
          <a:noFill/>
          <a:ln/>
        </p:spPr>
        <p:txBody>
          <a:bodyPr wrap="square" lIns="0" tIns="0" rIns="0" bIns="0" rtlCol="0" anchor="ctr"/>
          <a:lstStyle/>
          <a:p>
            <a:pPr algn="ctr" indent="0" marL="0">
              <a:buNone/>
            </a:pPr>
            <a:r>
              <a:rPr lang="en-US" sz="1100" dirty="0">
                <a:solidFill>
                  <a:schemeClr val="accent6"/>
                </a:solidFill>
              </a:rPr>
              <a:t>Est. Gross Profit Total</a:t>
            </a:r>
            <a:endParaRPr lang="en-US" sz="1100" dirty="0"/>
          </a:p>
        </p:txBody>
      </p:sp>
      <p:sp>
        <p:nvSpPr>
          <p:cNvPr id="12" name="KPI value Est. Gross Profit Total"/>
          <p:cNvSpPr txBox="1"/>
          <p:nvPr/>
        </p:nvSpPr>
        <p:spPr>
          <a:xfrm>
            <a:off x="4663440" y="1481328"/>
            <a:ext cx="1920240" cy="411480"/>
          </a:xfrm>
          <a:prstGeom prst="rect">
            <a:avLst/>
          </a:prstGeom>
          <a:noFill/>
          <a:ln/>
        </p:spPr>
        <p:txBody>
          <a:bodyPr wrap="square" lIns="0" tIns="0" rIns="0" bIns="0" rtlCol="0" anchor="ctr"/>
          <a:lstStyle/>
          <a:p>
            <a:pPr algn="ctr" indent="0" marL="0">
              <a:buNone/>
            </a:pPr>
            <a:r>
              <a:rPr lang="en-US" sz="2400" b="1" dirty="0">
                <a:solidFill>
                  <a:schemeClr val="tx1"/>
                </a:solidFill>
              </a:rPr>
              <a:t>$464.2M</a:t>
            </a:r>
            <a:endParaRPr lang="en-US" sz="2400" dirty="0"/>
          </a:p>
        </p:txBody>
      </p:sp>
      <p:sp>
        <p:nvSpPr>
          <p:cNvPr id="13" name="KPI card Est. Gross Margin %"/>
          <p:cNvSpPr/>
          <p:nvPr/>
        </p:nvSpPr>
        <p:spPr>
          <a:xfrm>
            <a:off x="6766560" y="1188720"/>
            <a:ext cx="1920240" cy="777240"/>
          </a:xfrm>
          <a:prstGeom prst="roundRect">
            <a:avLst>
              <a:gd name="adj" fmla="val 14118"/>
            </a:avLst>
          </a:prstGeom>
          <a:solidFill>
            <a:schemeClr val="bg2"/>
          </a:solidFill>
          <a:ln/>
        </p:spPr>
      </p:sp>
      <p:sp>
        <p:nvSpPr>
          <p:cNvPr id="14" name="KPI label Est. Gross Margin %"/>
          <p:cNvSpPr txBox="1"/>
          <p:nvPr/>
        </p:nvSpPr>
        <p:spPr>
          <a:xfrm>
            <a:off x="6766560" y="1225296"/>
            <a:ext cx="1920240" cy="256032"/>
          </a:xfrm>
          <a:prstGeom prst="rect">
            <a:avLst/>
          </a:prstGeom>
          <a:noFill/>
          <a:ln/>
        </p:spPr>
        <p:txBody>
          <a:bodyPr wrap="square" lIns="0" tIns="0" rIns="0" bIns="0" rtlCol="0" anchor="ctr"/>
          <a:lstStyle/>
          <a:p>
            <a:pPr algn="ctr" indent="0" marL="0">
              <a:buNone/>
            </a:pPr>
            <a:r>
              <a:rPr lang="en-US" sz="1100" dirty="0">
                <a:solidFill>
                  <a:schemeClr val="accent6"/>
                </a:solidFill>
              </a:rPr>
              <a:t>Est. Gross Margin %</a:t>
            </a:r>
            <a:endParaRPr lang="en-US" sz="1100" dirty="0"/>
          </a:p>
        </p:txBody>
      </p:sp>
      <p:sp>
        <p:nvSpPr>
          <p:cNvPr id="15" name="KPI value Est. Gross Margin %"/>
          <p:cNvSpPr txBox="1"/>
          <p:nvPr/>
        </p:nvSpPr>
        <p:spPr>
          <a:xfrm>
            <a:off x="6766560" y="1481328"/>
            <a:ext cx="1920240" cy="411480"/>
          </a:xfrm>
          <a:prstGeom prst="rect">
            <a:avLst/>
          </a:prstGeom>
          <a:noFill/>
          <a:ln/>
        </p:spPr>
        <p:txBody>
          <a:bodyPr wrap="square" lIns="0" tIns="0" rIns="0" bIns="0" rtlCol="0" anchor="ctr"/>
          <a:lstStyle/>
          <a:p>
            <a:pPr algn="ctr" indent="0" marL="0">
              <a:buNone/>
            </a:pPr>
            <a:r>
              <a:rPr lang="en-US" sz="2400" b="1" dirty="0">
                <a:solidFill>
                  <a:schemeClr val="tx1"/>
                </a:solidFill>
              </a:rPr>
              <a:t>22.78%</a:t>
            </a:r>
            <a:endParaRPr lang="en-US" sz="2400" dirty="0"/>
          </a:p>
        </p:txBody>
      </p:sp>
      <p:sp>
        <p:nvSpPr>
          <p:cNvPr id="16" name="Chart panel Revenue by country ($M)"/>
          <p:cNvSpPr/>
          <p:nvPr/>
        </p:nvSpPr>
        <p:spPr>
          <a:xfrm>
            <a:off x="457200" y="2103120"/>
            <a:ext cx="3108960" cy="2468880"/>
          </a:xfrm>
          <a:prstGeom prst="roundRect">
            <a:avLst>
              <a:gd name="adj" fmla="val 3704"/>
            </a:avLst>
          </a:prstGeom>
          <a:solidFill>
            <a:schemeClr val="bg2"/>
          </a:solidFill>
          <a:ln/>
        </p:spPr>
      </p:sp>
      <p:graphicFrame>
        <p:nvGraphicFramePr>
          <p:cNvPr id="17" name="Chart 0" descr=""/>
          <p:cNvGraphicFramePr/>
          <p:nvPr/>
        </p:nvGraphicFramePr>
        <p:xfrm>
          <a:off x="502920" y="2148840"/>
          <a:ext cx="3017520" cy="2377440"/>
        </p:xfrm>
        <a:graphic xmlns:a="http://schemas.openxmlformats.org/drawingml/2006/main">
          <a:graphicData uri="http://schemas.openxmlformats.org/drawingml/2006/chart">
            <c:chart xmlns:c="http://schemas.openxmlformats.org/drawingml/2006/chart" r:id="rId1"/>
          </a:graphicData>
        </a:graphic>
      </p:graphicFrame>
      <p:sp>
        <p:nvSpPr>
          <p:cNvPr id="18" name="Chart panel By product category ($M)"/>
          <p:cNvSpPr/>
          <p:nvPr/>
        </p:nvSpPr>
        <p:spPr>
          <a:xfrm>
            <a:off x="3703320" y="2103120"/>
            <a:ext cx="2651760" cy="2468880"/>
          </a:xfrm>
          <a:prstGeom prst="roundRect">
            <a:avLst>
              <a:gd name="adj" fmla="val 3704"/>
            </a:avLst>
          </a:prstGeom>
          <a:solidFill>
            <a:schemeClr val="bg2"/>
          </a:solidFill>
          <a:ln/>
        </p:spPr>
      </p:sp>
      <p:graphicFrame>
        <p:nvGraphicFramePr>
          <p:cNvPr id="19" name="Chart 1" descr=""/>
          <p:cNvGraphicFramePr/>
          <p:nvPr/>
        </p:nvGraphicFramePr>
        <p:xfrm>
          <a:off x="3749040" y="2148840"/>
          <a:ext cx="2560320" cy="2377440"/>
        </p:xfrm>
        <a:graphic xmlns:a="http://schemas.openxmlformats.org/drawingml/2006/main">
          <a:graphicData uri="http://schemas.openxmlformats.org/drawingml/2006/chart">
            <c:chart xmlns:c="http://schemas.openxmlformats.org/drawingml/2006/chart" r:id="rId2"/>
          </a:graphicData>
        </a:graphic>
      </p:graphicFrame>
      <p:sp>
        <p:nvSpPr>
          <p:cNvPr id="20" name="Chart panel By sales channel ($M)"/>
          <p:cNvSpPr/>
          <p:nvPr/>
        </p:nvSpPr>
        <p:spPr>
          <a:xfrm>
            <a:off x="6492240" y="2103120"/>
            <a:ext cx="2194560" cy="2468880"/>
          </a:xfrm>
          <a:prstGeom prst="roundRect">
            <a:avLst>
              <a:gd name="adj" fmla="val 4167"/>
            </a:avLst>
          </a:prstGeom>
          <a:solidFill>
            <a:schemeClr val="bg2"/>
          </a:solidFill>
          <a:ln/>
        </p:spPr>
      </p:sp>
      <p:graphicFrame>
        <p:nvGraphicFramePr>
          <p:cNvPr id="21" name="Chart 2" descr=""/>
          <p:cNvGraphicFramePr/>
          <p:nvPr/>
        </p:nvGraphicFramePr>
        <p:xfrm>
          <a:off x="6537960" y="2148840"/>
          <a:ext cx="2103120" cy="2377440"/>
        </p:xfrm>
        <a:graphic xmlns:a="http://schemas.openxmlformats.org/drawingml/2006/main">
          <a:graphicData uri="http://schemas.openxmlformats.org/drawingml/2006/chart">
            <c:chart xmlns:c="http://schemas.openxmlformats.org/drawingml/2006/chart" r:id="rId3"/>
          </a:graphicData>
        </a:graphic>
      </p:graphicFrame>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Key Findings from the Dataset</a:t>
            </a:r>
            <a:endParaRPr lang="en-US" sz="2800" dirty="0"/>
          </a:p>
        </p:txBody>
      </p:sp>
      <p:graphicFrame>
        <p:nvGraphicFramePr>
          <p:cNvPr id="3" name="Chart 0" descr=""/>
          <p:cNvGraphicFramePr/>
          <p:nvPr/>
        </p:nvGraphicFramePr>
        <p:xfrm>
          <a:off x="457200" y="1097280"/>
          <a:ext cx="4846320" cy="3383280"/>
        </p:xfrm>
        <a:graphic xmlns:a="http://schemas.openxmlformats.org/drawingml/2006/main">
          <a:graphicData uri="http://schemas.openxmlformats.org/drawingml/2006/chart">
            <c:chart xmlns:c="http://schemas.openxmlformats.org/drawingml/2006/chart" r:id="rId1"/>
          </a:graphicData>
        </a:graphic>
      </p:graphicFrame>
      <p:sp>
        <p:nvSpPr>
          <p:cNvPr id="4" name="Finding card 1"/>
          <p:cNvSpPr/>
          <p:nvPr/>
        </p:nvSpPr>
        <p:spPr>
          <a:xfrm>
            <a:off x="5577840" y="1097280"/>
            <a:ext cx="3108960" cy="1005840"/>
          </a:xfrm>
          <a:prstGeom prst="roundRect">
            <a:avLst>
              <a:gd name="adj" fmla="val 10909"/>
            </a:avLst>
          </a:prstGeom>
          <a:solidFill>
            <a:schemeClr val="bg2"/>
          </a:solidFill>
          <a:ln/>
        </p:spPr>
      </p:sp>
      <p:sp>
        <p:nvSpPr>
          <p:cNvPr id="5" name="Finding value 1"/>
          <p:cNvSpPr txBox="1"/>
          <p:nvPr/>
        </p:nvSpPr>
        <p:spPr>
          <a:xfrm>
            <a:off x="5669280" y="1188720"/>
            <a:ext cx="1234440" cy="822960"/>
          </a:xfrm>
          <a:prstGeom prst="rect">
            <a:avLst/>
          </a:prstGeom>
          <a:noFill/>
          <a:ln/>
        </p:spPr>
        <p:txBody>
          <a:bodyPr wrap="square" lIns="0" tIns="0" rIns="0" bIns="0" rtlCol="0" anchor="ctr"/>
          <a:lstStyle/>
          <a:p>
            <a:pPr indent="0" marL="0">
              <a:buNone/>
            </a:pPr>
            <a:r>
              <a:rPr lang="en-US" sz="2600" b="1" dirty="0">
                <a:solidFill>
                  <a:schemeClr val="tx1"/>
                </a:solidFill>
              </a:rPr>
              <a:t>27.9%</a:t>
            </a:r>
            <a:endParaRPr lang="en-US" sz="2600" dirty="0"/>
          </a:p>
        </p:txBody>
      </p:sp>
      <p:sp>
        <p:nvSpPr>
          <p:cNvPr id="6" name="Finding text 1"/>
          <p:cNvSpPr txBox="1"/>
          <p:nvPr/>
        </p:nvSpPr>
        <p:spPr>
          <a:xfrm>
            <a:off x="6949440" y="1188720"/>
            <a:ext cx="1645920" cy="822960"/>
          </a:xfrm>
          <a:prstGeom prst="rect">
            <a:avLst/>
          </a:prstGeom>
          <a:noFill/>
          <a:ln/>
        </p:spPr>
        <p:txBody>
          <a:bodyPr wrap="square" lIns="0" tIns="0" rIns="0" bIns="0" rtlCol="0" anchor="ctr"/>
          <a:lstStyle/>
          <a:p>
            <a:pPr indent="0" marL="0">
              <a:buNone/>
            </a:pPr>
            <a:r>
              <a:rPr lang="en-US" sz="1200" dirty="0">
                <a:solidFill>
                  <a:schemeClr val="tx1"/>
                </a:solidFill>
              </a:rPr>
              <a:t>of revenue comes from India, the top country</a:t>
            </a:r>
            <a:endParaRPr lang="en-US" sz="1200" dirty="0"/>
          </a:p>
        </p:txBody>
      </p:sp>
      <p:sp>
        <p:nvSpPr>
          <p:cNvPr id="7" name="Finding card 2"/>
          <p:cNvSpPr/>
          <p:nvPr/>
        </p:nvSpPr>
        <p:spPr>
          <a:xfrm>
            <a:off x="5577840" y="2286000"/>
            <a:ext cx="3108960" cy="1005840"/>
          </a:xfrm>
          <a:prstGeom prst="roundRect">
            <a:avLst>
              <a:gd name="adj" fmla="val 10909"/>
            </a:avLst>
          </a:prstGeom>
          <a:solidFill>
            <a:schemeClr val="bg2"/>
          </a:solidFill>
          <a:ln/>
        </p:spPr>
      </p:sp>
      <p:sp>
        <p:nvSpPr>
          <p:cNvPr id="8" name="Finding value 2"/>
          <p:cNvSpPr txBox="1"/>
          <p:nvPr/>
        </p:nvSpPr>
        <p:spPr>
          <a:xfrm>
            <a:off x="5669280" y="2377440"/>
            <a:ext cx="1234440" cy="822960"/>
          </a:xfrm>
          <a:prstGeom prst="rect">
            <a:avLst/>
          </a:prstGeom>
          <a:noFill/>
          <a:ln/>
        </p:spPr>
        <p:txBody>
          <a:bodyPr wrap="square" lIns="0" tIns="0" rIns="0" bIns="0" rtlCol="0" anchor="ctr"/>
          <a:lstStyle/>
          <a:p>
            <a:pPr indent="0" marL="0">
              <a:buNone/>
            </a:pPr>
            <a:r>
              <a:rPr lang="en-US" sz="2600" b="1" dirty="0">
                <a:solidFill>
                  <a:schemeClr val="tx1"/>
                </a:solidFill>
              </a:rPr>
              <a:t>69.9%</a:t>
            </a:r>
            <a:endParaRPr lang="en-US" sz="2600" dirty="0"/>
          </a:p>
        </p:txBody>
      </p:sp>
      <p:sp>
        <p:nvSpPr>
          <p:cNvPr id="9" name="Finding text 2"/>
          <p:cNvSpPr txBox="1"/>
          <p:nvPr/>
        </p:nvSpPr>
        <p:spPr>
          <a:xfrm>
            <a:off x="6949440" y="2377440"/>
            <a:ext cx="1645920" cy="822960"/>
          </a:xfrm>
          <a:prstGeom prst="rect">
            <a:avLst/>
          </a:prstGeom>
          <a:noFill/>
          <a:ln/>
        </p:spPr>
        <p:txBody>
          <a:bodyPr wrap="square" lIns="0" tIns="0" rIns="0" bIns="0" rtlCol="0" anchor="ctr"/>
          <a:lstStyle/>
          <a:p>
            <a:pPr indent="0" marL="0">
              <a:buNone/>
            </a:pPr>
            <a:r>
              <a:rPr lang="en-US" sz="1200" dirty="0">
                <a:solidFill>
                  <a:schemeClr val="tx1"/>
                </a:solidFill>
              </a:rPr>
              <a:t>of revenue sits in AI Infrastructure products</a:t>
            </a:r>
            <a:endParaRPr lang="en-US" sz="1200" dirty="0"/>
          </a:p>
        </p:txBody>
      </p:sp>
      <p:sp>
        <p:nvSpPr>
          <p:cNvPr id="10" name="Finding card 3"/>
          <p:cNvSpPr/>
          <p:nvPr/>
        </p:nvSpPr>
        <p:spPr>
          <a:xfrm>
            <a:off x="5577840" y="3474720"/>
            <a:ext cx="3108960" cy="1005840"/>
          </a:xfrm>
          <a:prstGeom prst="roundRect">
            <a:avLst>
              <a:gd name="adj" fmla="val 10909"/>
            </a:avLst>
          </a:prstGeom>
          <a:solidFill>
            <a:schemeClr val="bg2"/>
          </a:solidFill>
          <a:ln/>
        </p:spPr>
      </p:sp>
      <p:sp>
        <p:nvSpPr>
          <p:cNvPr id="11" name="Finding value 3"/>
          <p:cNvSpPr txBox="1"/>
          <p:nvPr/>
        </p:nvSpPr>
        <p:spPr>
          <a:xfrm>
            <a:off x="5669280" y="3566160"/>
            <a:ext cx="1234440" cy="822960"/>
          </a:xfrm>
          <a:prstGeom prst="rect">
            <a:avLst/>
          </a:prstGeom>
          <a:noFill/>
          <a:ln/>
        </p:spPr>
        <p:txBody>
          <a:bodyPr wrap="square" lIns="0" tIns="0" rIns="0" bIns="0" rtlCol="0" anchor="ctr"/>
          <a:lstStyle/>
          <a:p>
            <a:pPr indent="0" marL="0">
              <a:buNone/>
            </a:pPr>
            <a:r>
              <a:rPr lang="en-US" sz="2600" b="1" dirty="0">
                <a:solidFill>
                  <a:schemeClr val="tx1"/>
                </a:solidFill>
              </a:rPr>
              <a:t>32.5%</a:t>
            </a:r>
            <a:endParaRPr lang="en-US" sz="2600" dirty="0"/>
          </a:p>
        </p:txBody>
      </p:sp>
      <p:sp>
        <p:nvSpPr>
          <p:cNvPr id="12" name="Finding text 3"/>
          <p:cNvSpPr txBox="1"/>
          <p:nvPr/>
        </p:nvSpPr>
        <p:spPr>
          <a:xfrm>
            <a:off x="6949440" y="3566160"/>
            <a:ext cx="1645920" cy="822960"/>
          </a:xfrm>
          <a:prstGeom prst="rect">
            <a:avLst/>
          </a:prstGeom>
          <a:noFill/>
          <a:ln/>
        </p:spPr>
        <p:txBody>
          <a:bodyPr wrap="square" lIns="0" tIns="0" rIns="0" bIns="0" rtlCol="0" anchor="ctr"/>
          <a:lstStyle/>
          <a:p>
            <a:pPr indent="0" marL="0">
              <a:buNone/>
            </a:pPr>
            <a:r>
              <a:rPr lang="en-US" sz="1200" dirty="0">
                <a:solidFill>
                  <a:schemeClr val="tx1"/>
                </a:solidFill>
              </a:rPr>
              <a:t>of revenue flows through OEM/Integrator channels</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Recommendations and Conclusion</a:t>
            </a:r>
            <a:endParaRPr lang="en-US" sz="2800" dirty="0"/>
          </a:p>
        </p:txBody>
      </p:sp>
      <p:sp>
        <p:nvSpPr>
          <p:cNvPr id="3" name="Recommendation card Data governance"/>
          <p:cNvSpPr/>
          <p:nvPr/>
        </p:nvSpPr>
        <p:spPr>
          <a:xfrm>
            <a:off x="457200" y="1097280"/>
            <a:ext cx="4023360" cy="1005840"/>
          </a:xfrm>
          <a:prstGeom prst="roundRect">
            <a:avLst>
              <a:gd name="adj" fmla="val 10909"/>
            </a:avLst>
          </a:prstGeom>
          <a:solidFill>
            <a:schemeClr val="bg2"/>
          </a:solidFill>
          <a:ln/>
        </p:spPr>
      </p:sp>
      <p:sp>
        <p:nvSpPr>
          <p:cNvPr id="4" name="Data governance circle"/>
          <p:cNvSpPr/>
          <p:nvPr/>
        </p:nvSpPr>
        <p:spPr>
          <a:xfrm>
            <a:off x="640080" y="1348740"/>
            <a:ext cx="502920" cy="502920"/>
          </a:xfrm>
          <a:prstGeom prst="ellipse">
            <a:avLst/>
          </a:prstGeom>
          <a:solidFill>
            <a:schemeClr val="tx2"/>
          </a:solidFill>
          <a:ln/>
        </p:spPr>
      </p:sp>
      <p:pic>
        <p:nvPicPr>
          <p:cNvPr id="5" name="Data governance image" descr="Data governance">    </p:cNvPr>
          <p:cNvPicPr>
            <a:picLocks noChangeAspect="1"/>
          </p:cNvPicPr>
          <p:nvPr/>
        </p:nvPicPr>
        <p:blipFill>
          <a:blip r:embed="rId1"/>
          <a:stretch>
            <a:fillRect/>
          </a:stretch>
        </p:blipFill>
        <p:spPr>
          <a:xfrm>
            <a:off x="770839" y="1479499"/>
            <a:ext cx="241402" cy="241402"/>
          </a:xfrm>
          <a:prstGeom prst="rect">
            <a:avLst/>
          </a:prstGeom>
        </p:spPr>
      </p:pic>
      <p:sp>
        <p:nvSpPr>
          <p:cNvPr id="6" name="Recommendation text Data governance"/>
          <p:cNvSpPr txBox="1"/>
          <p:nvPr/>
        </p:nvSpPr>
        <p:spPr>
          <a:xfrm>
            <a:off x="1325880" y="1170432"/>
            <a:ext cx="3063240" cy="859536"/>
          </a:xfrm>
          <a:prstGeom prst="rect">
            <a:avLst/>
          </a:prstGeom>
          <a:noFill/>
          <a:ln/>
        </p:spPr>
        <p:txBody>
          <a:bodyPr wrap="square" lIns="0" tIns="0" rIns="0" bIns="0" rtlCol="0" anchor="ctr"/>
          <a:lstStyle/>
          <a:p>
            <a:pPr indent="0" marL="0">
              <a:buNone/>
            </a:pPr>
            <a:r>
              <a:rPr lang="en-US" sz="1600" b="1" dirty="0">
                <a:solidFill>
                  <a:schemeClr val="tx1"/>
                </a:solidFill>
              </a:rPr>
              <a:t>Data governance</a:t>
            </a:r>
            <a:endParaRPr lang="en-US" sz="1600" dirty="0"/>
          </a:p>
          <a:p>
            <a:pPr indent="0" marL="0">
              <a:buNone/>
            </a:pPr>
            <a:r>
              <a:rPr lang="en-US" sz="1400" dirty="0">
                <a:solidFill>
                  <a:schemeClr val="tx1"/>
                </a:solidFill>
              </a:rPr>
              <a:t>Keep a source register, data dictionary and cleaning log</a:t>
            </a:r>
            <a:endParaRPr lang="en-US" sz="1600" dirty="0"/>
          </a:p>
        </p:txBody>
      </p:sp>
      <p:sp>
        <p:nvSpPr>
          <p:cNvPr id="7" name="Recommendation card Currency control"/>
          <p:cNvSpPr/>
          <p:nvPr/>
        </p:nvSpPr>
        <p:spPr>
          <a:xfrm>
            <a:off x="4663440" y="1097280"/>
            <a:ext cx="4023360" cy="1005840"/>
          </a:xfrm>
          <a:prstGeom prst="roundRect">
            <a:avLst>
              <a:gd name="adj" fmla="val 10909"/>
            </a:avLst>
          </a:prstGeom>
          <a:solidFill>
            <a:schemeClr val="bg2"/>
          </a:solidFill>
          <a:ln/>
        </p:spPr>
      </p:sp>
      <p:sp>
        <p:nvSpPr>
          <p:cNvPr id="8" name="Currency control circle"/>
          <p:cNvSpPr/>
          <p:nvPr/>
        </p:nvSpPr>
        <p:spPr>
          <a:xfrm>
            <a:off x="4846320" y="1348740"/>
            <a:ext cx="502920" cy="502920"/>
          </a:xfrm>
          <a:prstGeom prst="ellipse">
            <a:avLst/>
          </a:prstGeom>
          <a:solidFill>
            <a:schemeClr val="tx2"/>
          </a:solidFill>
          <a:ln/>
        </p:spPr>
      </p:sp>
      <p:pic>
        <p:nvPicPr>
          <p:cNvPr id="9" name="Currency control image" descr="Currency control">    </p:cNvPr>
          <p:cNvPicPr>
            <a:picLocks noChangeAspect="1"/>
          </p:cNvPicPr>
          <p:nvPr/>
        </p:nvPicPr>
        <p:blipFill>
          <a:blip r:embed="rId2"/>
          <a:stretch>
            <a:fillRect/>
          </a:stretch>
        </p:blipFill>
        <p:spPr>
          <a:xfrm>
            <a:off x="4977079" y="1479499"/>
            <a:ext cx="241402" cy="241402"/>
          </a:xfrm>
          <a:prstGeom prst="rect">
            <a:avLst/>
          </a:prstGeom>
        </p:spPr>
      </p:pic>
      <p:sp>
        <p:nvSpPr>
          <p:cNvPr id="10" name="Recommendation text Currency control"/>
          <p:cNvSpPr txBox="1"/>
          <p:nvPr/>
        </p:nvSpPr>
        <p:spPr>
          <a:xfrm>
            <a:off x="5532120" y="1170432"/>
            <a:ext cx="3063240" cy="859536"/>
          </a:xfrm>
          <a:prstGeom prst="rect">
            <a:avLst/>
          </a:prstGeom>
          <a:noFill/>
          <a:ln/>
        </p:spPr>
        <p:txBody>
          <a:bodyPr wrap="square" lIns="0" tIns="0" rIns="0" bIns="0" rtlCol="0" anchor="ctr"/>
          <a:lstStyle/>
          <a:p>
            <a:pPr indent="0" marL="0">
              <a:buNone/>
            </a:pPr>
            <a:r>
              <a:rPr lang="en-US" sz="1600" b="1" dirty="0">
                <a:solidFill>
                  <a:schemeClr val="tx1"/>
                </a:solidFill>
              </a:rPr>
              <a:t>Currency control</a:t>
            </a:r>
            <a:endParaRPr lang="en-US" sz="1600" dirty="0"/>
          </a:p>
          <a:p>
            <a:pPr indent="0" marL="0">
              <a:buNone/>
            </a:pPr>
            <a:r>
              <a:rPr lang="en-US" sz="1400" dirty="0">
                <a:solidFill>
                  <a:schemeClr val="tx1"/>
                </a:solidFill>
              </a:rPr>
              <a:t>Confirm the currency basis before comparing money values</a:t>
            </a:r>
            <a:endParaRPr lang="en-US" sz="1600" dirty="0"/>
          </a:p>
        </p:txBody>
      </p:sp>
      <p:sp>
        <p:nvSpPr>
          <p:cNvPr id="11" name="Recommendation card Verified data"/>
          <p:cNvSpPr/>
          <p:nvPr/>
        </p:nvSpPr>
        <p:spPr>
          <a:xfrm>
            <a:off x="457200" y="2240280"/>
            <a:ext cx="4023360" cy="1005840"/>
          </a:xfrm>
          <a:prstGeom prst="roundRect">
            <a:avLst>
              <a:gd name="adj" fmla="val 10909"/>
            </a:avLst>
          </a:prstGeom>
          <a:solidFill>
            <a:schemeClr val="bg2"/>
          </a:solidFill>
          <a:ln/>
        </p:spPr>
      </p:sp>
      <p:sp>
        <p:nvSpPr>
          <p:cNvPr id="12" name="Verified data circle"/>
          <p:cNvSpPr/>
          <p:nvPr/>
        </p:nvSpPr>
        <p:spPr>
          <a:xfrm>
            <a:off x="640080" y="2491740"/>
            <a:ext cx="502920" cy="502920"/>
          </a:xfrm>
          <a:prstGeom prst="ellipse">
            <a:avLst/>
          </a:prstGeom>
          <a:solidFill>
            <a:schemeClr val="tx2"/>
          </a:solidFill>
          <a:ln/>
        </p:spPr>
      </p:sp>
      <p:pic>
        <p:nvPicPr>
          <p:cNvPr id="13" name="Verified data image" descr="Verified data">    </p:cNvPr>
          <p:cNvPicPr>
            <a:picLocks noChangeAspect="1"/>
          </p:cNvPicPr>
          <p:nvPr/>
        </p:nvPicPr>
        <p:blipFill>
          <a:blip r:embed="rId3"/>
          <a:stretch>
            <a:fillRect/>
          </a:stretch>
        </p:blipFill>
        <p:spPr>
          <a:xfrm>
            <a:off x="770839" y="2622499"/>
            <a:ext cx="241402" cy="241402"/>
          </a:xfrm>
          <a:prstGeom prst="rect">
            <a:avLst/>
          </a:prstGeom>
        </p:spPr>
      </p:pic>
      <p:sp>
        <p:nvSpPr>
          <p:cNvPr id="14" name="Recommendation text Verified data"/>
          <p:cNvSpPr txBox="1"/>
          <p:nvPr/>
        </p:nvSpPr>
        <p:spPr>
          <a:xfrm>
            <a:off x="1325880" y="2313432"/>
            <a:ext cx="3063240" cy="859536"/>
          </a:xfrm>
          <a:prstGeom prst="rect">
            <a:avLst/>
          </a:prstGeom>
          <a:noFill/>
          <a:ln/>
        </p:spPr>
        <p:txBody>
          <a:bodyPr wrap="square" lIns="0" tIns="0" rIns="0" bIns="0" rtlCol="0" anchor="ctr"/>
          <a:lstStyle/>
          <a:p>
            <a:pPr indent="0" marL="0">
              <a:buNone/>
            </a:pPr>
            <a:r>
              <a:rPr lang="en-US" sz="1600" b="1" dirty="0">
                <a:solidFill>
                  <a:schemeClr val="tx1"/>
                </a:solidFill>
              </a:rPr>
              <a:t>Verified data</a:t>
            </a:r>
            <a:endParaRPr lang="en-US" sz="1600" dirty="0"/>
          </a:p>
          <a:p>
            <a:pPr indent="0" marL="0">
              <a:buNone/>
            </a:pPr>
            <a:r>
              <a:rPr lang="en-US" sz="1400" dirty="0">
                <a:solidFill>
                  <a:schemeClr val="tx1"/>
                </a:solidFill>
              </a:rPr>
              <a:t>Replace synthetic records before any real decision</a:t>
            </a:r>
            <a:endParaRPr lang="en-US" sz="1600" dirty="0"/>
          </a:p>
        </p:txBody>
      </p:sp>
      <p:sp>
        <p:nvSpPr>
          <p:cNvPr id="15" name="Recommendation card Dashboard ownership"/>
          <p:cNvSpPr/>
          <p:nvPr/>
        </p:nvSpPr>
        <p:spPr>
          <a:xfrm>
            <a:off x="4663440" y="2240280"/>
            <a:ext cx="4023360" cy="1005840"/>
          </a:xfrm>
          <a:prstGeom prst="roundRect">
            <a:avLst>
              <a:gd name="adj" fmla="val 10909"/>
            </a:avLst>
          </a:prstGeom>
          <a:solidFill>
            <a:schemeClr val="bg2"/>
          </a:solidFill>
          <a:ln/>
        </p:spPr>
      </p:sp>
      <p:sp>
        <p:nvSpPr>
          <p:cNvPr id="16" name="Dashboard ownership circle"/>
          <p:cNvSpPr/>
          <p:nvPr/>
        </p:nvSpPr>
        <p:spPr>
          <a:xfrm>
            <a:off x="4846320" y="2491740"/>
            <a:ext cx="502920" cy="502920"/>
          </a:xfrm>
          <a:prstGeom prst="ellipse">
            <a:avLst/>
          </a:prstGeom>
          <a:solidFill>
            <a:schemeClr val="tx2"/>
          </a:solidFill>
          <a:ln/>
        </p:spPr>
      </p:sp>
      <p:pic>
        <p:nvPicPr>
          <p:cNvPr id="17" name="Dashboard ownership image" descr="Dashboard ownership">    </p:cNvPr>
          <p:cNvPicPr>
            <a:picLocks noChangeAspect="1"/>
          </p:cNvPicPr>
          <p:nvPr/>
        </p:nvPicPr>
        <p:blipFill>
          <a:blip r:embed="rId4"/>
          <a:stretch>
            <a:fillRect/>
          </a:stretch>
        </p:blipFill>
        <p:spPr>
          <a:xfrm>
            <a:off x="4977079" y="2622499"/>
            <a:ext cx="241402" cy="241402"/>
          </a:xfrm>
          <a:prstGeom prst="rect">
            <a:avLst/>
          </a:prstGeom>
        </p:spPr>
      </p:pic>
      <p:sp>
        <p:nvSpPr>
          <p:cNvPr id="18" name="Recommendation text Dashboard ownership"/>
          <p:cNvSpPr txBox="1"/>
          <p:nvPr/>
        </p:nvSpPr>
        <p:spPr>
          <a:xfrm>
            <a:off x="5532120" y="2313432"/>
            <a:ext cx="3063240" cy="859536"/>
          </a:xfrm>
          <a:prstGeom prst="rect">
            <a:avLst/>
          </a:prstGeom>
          <a:noFill/>
          <a:ln/>
        </p:spPr>
        <p:txBody>
          <a:bodyPr wrap="square" lIns="0" tIns="0" rIns="0" bIns="0" rtlCol="0" anchor="ctr"/>
          <a:lstStyle/>
          <a:p>
            <a:pPr indent="0" marL="0">
              <a:buNone/>
            </a:pPr>
            <a:r>
              <a:rPr lang="en-US" sz="1600" b="1" dirty="0">
                <a:solidFill>
                  <a:schemeClr val="tx1"/>
                </a:solidFill>
              </a:rPr>
              <a:t>Dashboard ownership</a:t>
            </a:r>
            <a:endParaRPr lang="en-US" sz="1600" dirty="0"/>
          </a:p>
          <a:p>
            <a:pPr indent="0" marL="0">
              <a:buNone/>
            </a:pPr>
            <a:r>
              <a:rPr lang="en-US" sz="1400" dirty="0">
                <a:solidFill>
                  <a:schemeClr val="tx1"/>
                </a:solidFill>
              </a:rPr>
              <a:t>Assign owners for refresh, KPI definitions and access</a:t>
            </a:r>
            <a:endParaRPr lang="en-US" sz="1600" dirty="0"/>
          </a:p>
        </p:txBody>
      </p:sp>
      <p:sp>
        <p:nvSpPr>
          <p:cNvPr id="19" name="Conclusion panel"/>
          <p:cNvSpPr/>
          <p:nvPr/>
        </p:nvSpPr>
        <p:spPr>
          <a:xfrm>
            <a:off x="457200" y="3474720"/>
            <a:ext cx="8229600" cy="1097280"/>
          </a:xfrm>
          <a:prstGeom prst="roundRect">
            <a:avLst>
              <a:gd name="adj" fmla="val 10000"/>
            </a:avLst>
          </a:prstGeom>
          <a:solidFill>
            <a:schemeClr val="tx2"/>
          </a:solidFill>
          <a:ln/>
        </p:spPr>
      </p:sp>
      <p:sp>
        <p:nvSpPr>
          <p:cNvPr id="20" name="Conclusion text"/>
          <p:cNvSpPr txBox="1"/>
          <p:nvPr/>
        </p:nvSpPr>
        <p:spPr>
          <a:xfrm>
            <a:off x="685800" y="3566160"/>
            <a:ext cx="5669280" cy="914400"/>
          </a:xfrm>
          <a:prstGeom prst="rect">
            <a:avLst/>
          </a:prstGeom>
          <a:noFill/>
          <a:ln/>
        </p:spPr>
        <p:txBody>
          <a:bodyPr wrap="square" lIns="0" tIns="0" rIns="0" bIns="0" rtlCol="0" anchor="ctr"/>
          <a:lstStyle/>
          <a:p>
            <a:pPr indent="0" marL="0">
              <a:buNone/>
            </a:pPr>
            <a:r>
              <a:rPr lang="en-US" sz="1600" b="1" dirty="0">
                <a:solidFill>
                  <a:schemeClr val="accent1"/>
                </a:solidFill>
              </a:rPr>
              <a:t>Conclusion</a:t>
            </a:r>
            <a:endParaRPr lang="en-US" sz="1600" dirty="0"/>
          </a:p>
          <a:p>
            <a:pPr indent="0" marL="0">
              <a:buNone/>
            </a:pPr>
            <a:r>
              <a:rPr lang="en-US" sz="1400" dirty="0">
                <a:solidFill>
                  <a:schemeClr val="bg1"/>
                </a:solidFill>
              </a:rPr>
              <a:t>A transparent blueprint from raw CSV to dashboard: clear definitions, validation checks and honest labelling matter as much as the tools.</a:t>
            </a:r>
            <a:endParaRPr lang="en-US" sz="1600" dirty="0"/>
          </a:p>
        </p:txBody>
      </p:sp>
      <p:sp>
        <p:nvSpPr>
          <p:cNvPr id="21" name="Thank you"/>
          <p:cNvSpPr txBox="1"/>
          <p:nvPr/>
        </p:nvSpPr>
        <p:spPr>
          <a:xfrm>
            <a:off x="6492240" y="3566160"/>
            <a:ext cx="2011680" cy="914400"/>
          </a:xfrm>
          <a:prstGeom prst="rect">
            <a:avLst/>
          </a:prstGeom>
          <a:noFill/>
          <a:ln/>
        </p:spPr>
        <p:txBody>
          <a:bodyPr wrap="square" lIns="0" tIns="0" rIns="0" bIns="0" rtlCol="0" anchor="ctr"/>
          <a:lstStyle/>
          <a:p>
            <a:pPr algn="ctr" indent="0" marL="0">
              <a:buNone/>
            </a:pPr>
            <a:r>
              <a:rPr lang="en-US" sz="2000" b="1" dirty="0">
                <a:solidFill>
                  <a:schemeClr val="accent1"/>
                </a:solidFill>
              </a:rPr>
              <a:t>Thank you</a:t>
            </a:r>
            <a:endParaRPr lang="en-US" sz="2000" dirty="0"/>
          </a:p>
          <a:p>
            <a:pPr algn="ctr" indent="0" marL="0">
              <a:buNone/>
            </a:pPr>
            <a:r>
              <a:rPr lang="en-US" sz="2000" b="1" dirty="0">
                <a:solidFill>
                  <a:schemeClr val="accent1"/>
                </a:solidFill>
              </a:rPr>
              <a:t>Questions?</a:t>
            </a:r>
            <a:endParaRPr lang="en-US" sz="20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Robotics Intelligence">
  <a:themeElements>
    <a:clrScheme name="Robotics Intelligence">
      <a:dk1>
        <a:srgbClr val="10233F"/>
      </a:dk1>
      <a:lt1>
        <a:srgbClr val="FFFFFF"/>
      </a:lt1>
      <a:dk2>
        <a:srgbClr val="0B1F3A"/>
      </a:dk2>
      <a:lt2>
        <a:srgbClr val="EEF3F8"/>
      </a:lt2>
      <a:accent1>
        <a:srgbClr val="14B8A6"/>
      </a:accent1>
      <a:accent2>
        <a:srgbClr val="F59E0B"/>
      </a:accent2>
      <a:accent3>
        <a:srgbClr val="3B82F6"/>
      </a:accent3>
      <a:accent4>
        <a:srgbClr val="8B5CF6"/>
      </a:accent4>
      <a:accent5>
        <a:srgbClr val="B45309"/>
      </a:accent5>
      <a:accent6>
        <a:srgbClr val="64748B"/>
      </a:accent6>
      <a:hlink>
        <a:srgbClr val="3B82F6"/>
      </a:hlink>
      <a:folHlink>
        <a:srgbClr val="8B5CF6"/>
      </a:folHlink>
    </a:clrScheme>
    <a:fontScheme name="Robotics Intelligen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Global Robotics Market Intelligence</dc:title>
  <dc:subject>PptxGenJS Presentation</dc:subject>
  <dc:creator>Nikith Pagadala</dc:creator>
  <cp:lastModifiedBy>Nikith Pagadala</cp:lastModifiedBy>
  <cp:revision>1</cp:revision>
  <dcterms:created xsi:type="dcterms:W3CDTF">2026-10-29T08:52:38Z</dcterms:created>
  <dcterms:modified xsi:type="dcterms:W3CDTF">2026-10-29T08:52:38Z</dcterms:modified>
</cp:coreProperties>
</file>